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</p:sldIdLst>
  <p:sldSz cx="18288000" cy="10287000"/>
  <p:notesSz cx="6858000" cy="9144000"/>
  <p:embeddedFontLst>
    <p:embeddedFont>
      <p:font typeface="Poppins" panose="00000500000000000000" pitchFamily="2" charset="0"/>
      <p:regular r:id="rId11"/>
      <p:bold r:id="rId12"/>
      <p:italic r:id="rId13"/>
      <p:boldItalic r:id="rId14"/>
    </p:embeddedFont>
    <p:embeddedFont>
      <p:font typeface="Poppins Bold" panose="00000800000000000000" charset="0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22" autoAdjust="0"/>
  </p:normalViewPr>
  <p:slideViewPr>
    <p:cSldViewPr>
      <p:cViewPr varScale="1">
        <p:scale>
          <a:sx n="56" d="100"/>
          <a:sy n="56" d="100"/>
        </p:scale>
        <p:origin x="63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6.jpg"/><Relationship Id="rId4" Type="http://schemas.openxmlformats.org/officeDocument/2006/relationships/image" Target="../media/image15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7.jp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8.jp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21.jp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20.jpg"/><Relationship Id="rId5" Type="http://schemas.openxmlformats.org/officeDocument/2006/relationships/image" Target="../media/image9.png"/><Relationship Id="rId10" Type="http://schemas.openxmlformats.org/officeDocument/2006/relationships/image" Target="../media/image19.jp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22.jp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23.jp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24.jp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" y="-26934"/>
            <a:ext cx="18288000" cy="10313934"/>
          </a:xfrm>
          <a:custGeom>
            <a:avLst/>
            <a:gdLst/>
            <a:ahLst/>
            <a:cxnLst/>
            <a:rect l="l" t="t" r="r" b="b"/>
            <a:pathLst>
              <a:path w="19390485" h="11142478">
                <a:moveTo>
                  <a:pt x="0" y="0"/>
                </a:moveTo>
                <a:lnTo>
                  <a:pt x="19390484" y="0"/>
                </a:lnTo>
                <a:lnTo>
                  <a:pt x="19390484" y="11142478"/>
                </a:lnTo>
                <a:lnTo>
                  <a:pt x="0" y="11142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74" t="-18831" b="-218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49001" y="5544305"/>
            <a:ext cx="17189997" cy="4176623"/>
            <a:chOff x="0" y="0"/>
            <a:chExt cx="2682908" cy="6518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82908" cy="651861"/>
            </a:xfrm>
            <a:custGeom>
              <a:avLst/>
              <a:gdLst/>
              <a:ahLst/>
              <a:cxnLst/>
              <a:rect l="l" t="t" r="r" b="b"/>
              <a:pathLst>
                <a:path w="2682908" h="651861">
                  <a:moveTo>
                    <a:pt x="15313" y="0"/>
                  </a:moveTo>
                  <a:lnTo>
                    <a:pt x="2667595" y="0"/>
                  </a:lnTo>
                  <a:cubicBezTo>
                    <a:pt x="2671656" y="0"/>
                    <a:pt x="2675551" y="1613"/>
                    <a:pt x="2678423" y="4485"/>
                  </a:cubicBezTo>
                  <a:cubicBezTo>
                    <a:pt x="2681294" y="7357"/>
                    <a:pt x="2682908" y="11252"/>
                    <a:pt x="2682908" y="15313"/>
                  </a:cubicBezTo>
                  <a:lnTo>
                    <a:pt x="2682908" y="636549"/>
                  </a:lnTo>
                  <a:cubicBezTo>
                    <a:pt x="2682908" y="645006"/>
                    <a:pt x="2676052" y="651861"/>
                    <a:pt x="2667595" y="651861"/>
                  </a:cubicBezTo>
                  <a:lnTo>
                    <a:pt x="15313" y="651861"/>
                  </a:lnTo>
                  <a:cubicBezTo>
                    <a:pt x="6856" y="651861"/>
                    <a:pt x="0" y="645006"/>
                    <a:pt x="0" y="636549"/>
                  </a:cubicBezTo>
                  <a:lnTo>
                    <a:pt x="0" y="15313"/>
                  </a:lnTo>
                  <a:cubicBezTo>
                    <a:pt x="0" y="6856"/>
                    <a:pt x="6856" y="0"/>
                    <a:pt x="15313" y="0"/>
                  </a:cubicBezTo>
                  <a:close/>
                </a:path>
              </a:pathLst>
            </a:custGeom>
            <a:solidFill>
              <a:srgbClr val="F8FBFD"/>
            </a:solidFill>
            <a:ln w="47625" cap="rnd">
              <a:gradFill>
                <a:gsLst>
                  <a:gs pos="0">
                    <a:srgbClr val="113320">
                      <a:alpha val="100000"/>
                    </a:srgbClr>
                  </a:gs>
                  <a:gs pos="50000">
                    <a:srgbClr val="268D7C">
                      <a:alpha val="100000"/>
                    </a:srgbClr>
                  </a:gs>
                  <a:gs pos="100000">
                    <a:srgbClr val="C2FFB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round/>
            </a:ln>
          </p:spPr>
          <p:txBody>
            <a:bodyPr/>
            <a:lstStyle/>
            <a:p>
              <a:r>
                <a:rPr lang="en-US" dirty="0"/>
                <a:t>                                                                                 	</a:t>
              </a: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r>
                <a:rPr lang="en-US" dirty="0"/>
                <a:t>					</a:t>
              </a:r>
              <a:br>
                <a:rPr lang="en-US" dirty="0"/>
              </a:br>
              <a:r>
                <a:rPr lang="en-US" dirty="0"/>
                <a:t>					</a:t>
              </a: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r>
                <a:rPr lang="en-US" dirty="0"/>
                <a:t>							</a:t>
              </a: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r>
                <a:rPr lang="en-US" dirty="0"/>
                <a:t>							</a:t>
              </a:r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682908" cy="689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27260" y="321683"/>
            <a:ext cx="2712363" cy="566206"/>
          </a:xfrm>
          <a:custGeom>
            <a:avLst/>
            <a:gdLst/>
            <a:ahLst/>
            <a:cxnLst/>
            <a:rect l="l" t="t" r="r" b="b"/>
            <a:pathLst>
              <a:path w="2712363" h="566206">
                <a:moveTo>
                  <a:pt x="0" y="0"/>
                </a:moveTo>
                <a:lnTo>
                  <a:pt x="2712363" y="0"/>
                </a:lnTo>
                <a:lnTo>
                  <a:pt x="2712363" y="566205"/>
                </a:lnTo>
                <a:lnTo>
                  <a:pt x="0" y="566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49244" y="2073489"/>
            <a:ext cx="2305936" cy="2498828"/>
          </a:xfrm>
          <a:custGeom>
            <a:avLst/>
            <a:gdLst/>
            <a:ahLst/>
            <a:cxnLst/>
            <a:rect l="l" t="t" r="r" b="b"/>
            <a:pathLst>
              <a:path w="2305936" h="2498828">
                <a:moveTo>
                  <a:pt x="0" y="0"/>
                </a:moveTo>
                <a:lnTo>
                  <a:pt x="2305937" y="0"/>
                </a:lnTo>
                <a:lnTo>
                  <a:pt x="2305937" y="2498828"/>
                </a:lnTo>
                <a:lnTo>
                  <a:pt x="0" y="2498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206368" y="3581507"/>
            <a:ext cx="5174083" cy="491435"/>
          </a:xfrm>
          <a:custGeom>
            <a:avLst/>
            <a:gdLst/>
            <a:ahLst/>
            <a:cxnLst/>
            <a:rect l="l" t="t" r="r" b="b"/>
            <a:pathLst>
              <a:path w="5174083" h="491435">
                <a:moveTo>
                  <a:pt x="0" y="0"/>
                </a:moveTo>
                <a:lnTo>
                  <a:pt x="5174083" y="0"/>
                </a:lnTo>
                <a:lnTo>
                  <a:pt x="5174083" y="491435"/>
                </a:lnTo>
                <a:lnTo>
                  <a:pt x="0" y="491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58494" b="-39435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199389" y="-375824"/>
            <a:ext cx="1861443" cy="1861443"/>
          </a:xfrm>
          <a:custGeom>
            <a:avLst/>
            <a:gdLst/>
            <a:ahLst/>
            <a:cxnLst/>
            <a:rect l="l" t="t" r="r" b="b"/>
            <a:pathLst>
              <a:path w="1861443" h="1861443">
                <a:moveTo>
                  <a:pt x="0" y="0"/>
                </a:moveTo>
                <a:lnTo>
                  <a:pt x="1861443" y="0"/>
                </a:lnTo>
                <a:lnTo>
                  <a:pt x="1861443" y="1861443"/>
                </a:lnTo>
                <a:lnTo>
                  <a:pt x="0" y="1861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flipV="1">
            <a:off x="9445780" y="178376"/>
            <a:ext cx="0" cy="709512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7206368" y="2169116"/>
            <a:ext cx="4265444" cy="569409"/>
          </a:xfrm>
          <a:custGeom>
            <a:avLst/>
            <a:gdLst/>
            <a:ahLst/>
            <a:cxnLst/>
            <a:rect l="l" t="t" r="r" b="b"/>
            <a:pathLst>
              <a:path w="4265444" h="569409">
                <a:moveTo>
                  <a:pt x="0" y="0"/>
                </a:moveTo>
                <a:lnTo>
                  <a:pt x="4265443" y="0"/>
                </a:lnTo>
                <a:lnTo>
                  <a:pt x="4265443" y="569410"/>
                </a:lnTo>
                <a:lnTo>
                  <a:pt x="0" y="569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20763" b="-328336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206368" y="2895457"/>
            <a:ext cx="6010610" cy="664817"/>
          </a:xfrm>
          <a:custGeom>
            <a:avLst/>
            <a:gdLst/>
            <a:ahLst/>
            <a:cxnLst/>
            <a:rect l="l" t="t" r="r" b="b"/>
            <a:pathLst>
              <a:path w="6010610" h="664817">
                <a:moveTo>
                  <a:pt x="0" y="0"/>
                </a:moveTo>
                <a:lnTo>
                  <a:pt x="6010609" y="0"/>
                </a:lnTo>
                <a:lnTo>
                  <a:pt x="6010609" y="664817"/>
                </a:lnTo>
                <a:lnTo>
                  <a:pt x="0" y="6648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69707" b="-434392"/>
            </a:stretch>
          </a:blipFill>
        </p:spPr>
      </p:sp>
      <p:sp>
        <p:nvSpPr>
          <p:cNvPr id="13" name="AutoShape 13"/>
          <p:cNvSpPr/>
          <p:nvPr/>
        </p:nvSpPr>
        <p:spPr>
          <a:xfrm flipV="1">
            <a:off x="11658600" y="186449"/>
            <a:ext cx="0" cy="709512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4709637" y="141777"/>
            <a:ext cx="8983179" cy="843684"/>
            <a:chOff x="0" y="0"/>
            <a:chExt cx="11977572" cy="1124912"/>
          </a:xfrm>
        </p:grpSpPr>
        <p:sp>
          <p:nvSpPr>
            <p:cNvPr id="15" name="Freeform 15"/>
            <p:cNvSpPr/>
            <p:nvPr/>
          </p:nvSpPr>
          <p:spPr>
            <a:xfrm>
              <a:off x="3514510" y="34800"/>
              <a:ext cx="694544" cy="1055312"/>
            </a:xfrm>
            <a:custGeom>
              <a:avLst/>
              <a:gdLst/>
              <a:ahLst/>
              <a:cxnLst/>
              <a:rect l="l" t="t" r="r" b="b"/>
              <a:pathLst>
                <a:path w="694544" h="1055312">
                  <a:moveTo>
                    <a:pt x="0" y="0"/>
                  </a:moveTo>
                  <a:lnTo>
                    <a:pt x="694544" y="0"/>
                  </a:lnTo>
                  <a:lnTo>
                    <a:pt x="694544" y="1055312"/>
                  </a:lnTo>
                  <a:lnTo>
                    <a:pt x="0" y="1055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30422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4933265" y="41799"/>
              <a:ext cx="1040011" cy="1041313"/>
            </a:xfrm>
            <a:custGeom>
              <a:avLst/>
              <a:gdLst/>
              <a:ahLst/>
              <a:cxnLst/>
              <a:rect l="l" t="t" r="r" b="b"/>
              <a:pathLst>
                <a:path w="1040011" h="1041313">
                  <a:moveTo>
                    <a:pt x="0" y="0"/>
                  </a:moveTo>
                  <a:lnTo>
                    <a:pt x="1040011" y="0"/>
                  </a:lnTo>
                  <a:lnTo>
                    <a:pt x="1040011" y="1041313"/>
                  </a:lnTo>
                  <a:lnTo>
                    <a:pt x="0" y="1041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9633021" y="48799"/>
              <a:ext cx="2344551" cy="917307"/>
            </a:xfrm>
            <a:custGeom>
              <a:avLst/>
              <a:gdLst/>
              <a:ahLst/>
              <a:cxnLst/>
              <a:rect l="l" t="t" r="r" b="b"/>
              <a:pathLst>
                <a:path w="2344551" h="917306">
                  <a:moveTo>
                    <a:pt x="0" y="0"/>
                  </a:moveTo>
                  <a:lnTo>
                    <a:pt x="2344551" y="0"/>
                  </a:lnTo>
                  <a:lnTo>
                    <a:pt x="2344551" y="917305"/>
                  </a:lnTo>
                  <a:lnTo>
                    <a:pt x="0" y="917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2936399" cy="1124912"/>
            </a:xfrm>
            <a:custGeom>
              <a:avLst/>
              <a:gdLst/>
              <a:ahLst/>
              <a:cxnLst/>
              <a:rect l="l" t="t" r="r" b="b"/>
              <a:pathLst>
                <a:path w="2936399" h="1124912">
                  <a:moveTo>
                    <a:pt x="0" y="0"/>
                  </a:moveTo>
                  <a:lnTo>
                    <a:pt x="2936399" y="0"/>
                  </a:lnTo>
                  <a:lnTo>
                    <a:pt x="2936399" y="1124912"/>
                  </a:lnTo>
                  <a:lnTo>
                    <a:pt x="0" y="1124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76073" b="-84960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6411117" y="34444"/>
              <a:ext cx="2694940" cy="1084379"/>
            </a:xfrm>
            <a:custGeom>
              <a:avLst/>
              <a:gdLst/>
              <a:ahLst/>
              <a:cxnLst/>
              <a:rect l="l" t="t" r="r" b="b"/>
              <a:pathLst>
                <a:path w="2694940" h="1084379">
                  <a:moveTo>
                    <a:pt x="0" y="0"/>
                  </a:moveTo>
                  <a:lnTo>
                    <a:pt x="2694940" y="0"/>
                  </a:lnTo>
                  <a:lnTo>
                    <a:pt x="2694940" y="1084379"/>
                  </a:lnTo>
                  <a:lnTo>
                    <a:pt x="0" y="1084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73994" b="-74529"/>
              </a:stretch>
            </a:blipFill>
          </p:spPr>
        </p:sp>
      </p:grpSp>
      <p:sp>
        <p:nvSpPr>
          <p:cNvPr id="22" name="Freeform 22"/>
          <p:cNvSpPr/>
          <p:nvPr/>
        </p:nvSpPr>
        <p:spPr>
          <a:xfrm>
            <a:off x="10249291" y="4290273"/>
            <a:ext cx="4004726" cy="508177"/>
          </a:xfrm>
          <a:custGeom>
            <a:avLst/>
            <a:gdLst/>
            <a:ahLst/>
            <a:cxnLst/>
            <a:rect l="l" t="t" r="r" b="b"/>
            <a:pathLst>
              <a:path w="4004726" h="508177">
                <a:moveTo>
                  <a:pt x="0" y="0"/>
                </a:moveTo>
                <a:lnTo>
                  <a:pt x="4004726" y="0"/>
                </a:lnTo>
                <a:lnTo>
                  <a:pt x="4004726" y="508177"/>
                </a:lnTo>
                <a:lnTo>
                  <a:pt x="0" y="50817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1223" b="-1223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335928" y="6480709"/>
            <a:ext cx="7073658" cy="682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Team Name: </a:t>
            </a:r>
            <a:r>
              <a:rPr lang="en-US" sz="39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Kishta</a:t>
            </a:r>
            <a:r>
              <a:rPr lang="en-US" sz="39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Coders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9975" y="7282265"/>
            <a:ext cx="10339491" cy="682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Team Leader Name: </a:t>
            </a:r>
            <a:r>
              <a:rPr lang="en-US" sz="4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Ojaswee</a:t>
            </a:r>
            <a:r>
              <a:rPr lang="en-US" sz="4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Upadhyay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7530" y="8025045"/>
            <a:ext cx="12356888" cy="19134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Statement: </a:t>
            </a:r>
            <a:r>
              <a:rPr lang="en-US" sz="4400" cap="all" dirty="0"/>
              <a:t>Problem ID: </a:t>
            </a:r>
            <a:r>
              <a:rPr lang="en-US" sz="3600" cap="all" dirty="0"/>
              <a:t>CSIHACK02</a:t>
            </a:r>
          </a:p>
          <a:p>
            <a:r>
              <a:rPr lang="en-US" sz="3600" b="1" dirty="0"/>
              <a:t>IT Solutions for PMDDKY Scheme Implementation (Uttarakhand)</a:t>
            </a:r>
          </a:p>
          <a:p>
            <a:pPr algn="ctr">
              <a:lnSpc>
                <a:spcPts val="5605"/>
              </a:lnSpc>
            </a:pPr>
            <a:endParaRPr lang="en-US" sz="4003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345520" y="4382905"/>
            <a:ext cx="254085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22"/>
              </a:lnSpc>
            </a:pPr>
            <a:r>
              <a:rPr lang="en-US" sz="215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Technical Partner</a:t>
            </a:r>
          </a:p>
        </p:txBody>
      </p:sp>
      <p:sp>
        <p:nvSpPr>
          <p:cNvPr id="27" name="AutoShape 10"/>
          <p:cNvSpPr/>
          <p:nvPr/>
        </p:nvSpPr>
        <p:spPr>
          <a:xfrm flipV="1">
            <a:off x="7010400" y="186449"/>
            <a:ext cx="0" cy="709512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10"/>
          <p:cNvSpPr/>
          <p:nvPr/>
        </p:nvSpPr>
        <p:spPr>
          <a:xfrm flipV="1">
            <a:off x="8153400" y="186449"/>
            <a:ext cx="0" cy="709512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1"/>
            <a:ext cx="18288001" cy="10287000"/>
          </a:xfrm>
          <a:custGeom>
            <a:avLst/>
            <a:gdLst/>
            <a:ahLst/>
            <a:cxnLst/>
            <a:rect l="l" t="t" r="r" b="b"/>
            <a:pathLst>
              <a:path w="20238818" h="13484113">
                <a:moveTo>
                  <a:pt x="0" y="0"/>
                </a:moveTo>
                <a:lnTo>
                  <a:pt x="20238818" y="0"/>
                </a:lnTo>
                <a:lnTo>
                  <a:pt x="20238818" y="13484113"/>
                </a:lnTo>
                <a:lnTo>
                  <a:pt x="0" y="13484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06256" y="1132308"/>
            <a:ext cx="17875488" cy="8754177"/>
            <a:chOff x="0" y="0"/>
            <a:chExt cx="2789895" cy="13662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89895" cy="1366297"/>
            </a:xfrm>
            <a:custGeom>
              <a:avLst/>
              <a:gdLst/>
              <a:ahLst/>
              <a:cxnLst/>
              <a:rect l="l" t="t" r="r" b="b"/>
              <a:pathLst>
                <a:path w="2789895" h="1366297">
                  <a:moveTo>
                    <a:pt x="14292" y="0"/>
                  </a:moveTo>
                  <a:lnTo>
                    <a:pt x="2775602" y="0"/>
                  </a:lnTo>
                  <a:cubicBezTo>
                    <a:pt x="2783496" y="0"/>
                    <a:pt x="2789895" y="6399"/>
                    <a:pt x="2789895" y="14292"/>
                  </a:cubicBezTo>
                  <a:lnTo>
                    <a:pt x="2789895" y="1352005"/>
                  </a:lnTo>
                  <a:cubicBezTo>
                    <a:pt x="2789895" y="1359898"/>
                    <a:pt x="2783496" y="1366297"/>
                    <a:pt x="2775602" y="1366297"/>
                  </a:cubicBezTo>
                  <a:lnTo>
                    <a:pt x="14292" y="1366297"/>
                  </a:lnTo>
                  <a:cubicBezTo>
                    <a:pt x="10502" y="1366297"/>
                    <a:pt x="6866" y="1364792"/>
                    <a:pt x="4186" y="1362111"/>
                  </a:cubicBezTo>
                  <a:cubicBezTo>
                    <a:pt x="1506" y="1359431"/>
                    <a:pt x="0" y="1355796"/>
                    <a:pt x="0" y="1352005"/>
                  </a:cubicBezTo>
                  <a:lnTo>
                    <a:pt x="0" y="14292"/>
                  </a:lnTo>
                  <a:cubicBezTo>
                    <a:pt x="0" y="10502"/>
                    <a:pt x="1506" y="6866"/>
                    <a:pt x="4186" y="4186"/>
                  </a:cubicBezTo>
                  <a:cubicBezTo>
                    <a:pt x="6866" y="1506"/>
                    <a:pt x="10502" y="0"/>
                    <a:pt x="14292" y="0"/>
                  </a:cubicBezTo>
                  <a:close/>
                </a:path>
              </a:pathLst>
            </a:custGeom>
            <a:solidFill>
              <a:srgbClr val="F8FBF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89895" cy="1404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96297" y="292778"/>
            <a:ext cx="4265444" cy="569409"/>
          </a:xfrm>
          <a:custGeom>
            <a:avLst/>
            <a:gdLst/>
            <a:ahLst/>
            <a:cxnLst/>
            <a:rect l="l" t="t" r="r" b="b"/>
            <a:pathLst>
              <a:path w="4265444" h="569409">
                <a:moveTo>
                  <a:pt x="0" y="0"/>
                </a:moveTo>
                <a:lnTo>
                  <a:pt x="4265443" y="0"/>
                </a:lnTo>
                <a:lnTo>
                  <a:pt x="4265443" y="569409"/>
                </a:lnTo>
                <a:lnTo>
                  <a:pt x="0" y="569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20763" b="-32833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391400" y="288797"/>
            <a:ext cx="3994743" cy="519317"/>
          </a:xfrm>
          <a:custGeom>
            <a:avLst/>
            <a:gdLst/>
            <a:ahLst/>
            <a:cxnLst/>
            <a:rect l="l" t="t" r="r" b="b"/>
            <a:pathLst>
              <a:path w="4437093" h="576822">
                <a:moveTo>
                  <a:pt x="0" y="0"/>
                </a:moveTo>
                <a:lnTo>
                  <a:pt x="4437092" y="0"/>
                </a:lnTo>
                <a:lnTo>
                  <a:pt x="4437092" y="576822"/>
                </a:lnTo>
                <a:lnTo>
                  <a:pt x="0" y="57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01570" y="1503098"/>
            <a:ext cx="851863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/>
              <a:t>Problem Statement: </a:t>
            </a:r>
            <a:endParaRPr lang="en-US" b="1" dirty="0"/>
          </a:p>
          <a:p>
            <a:endParaRPr lang="en-IN" sz="2800" dirty="0"/>
          </a:p>
        </p:txBody>
      </p:sp>
      <p:grpSp>
        <p:nvGrpSpPr>
          <p:cNvPr id="9" name="Group 9"/>
          <p:cNvGrpSpPr/>
          <p:nvPr/>
        </p:nvGrpSpPr>
        <p:grpSpPr>
          <a:xfrm>
            <a:off x="13318339" y="292778"/>
            <a:ext cx="4668409" cy="436965"/>
            <a:chOff x="0" y="0"/>
            <a:chExt cx="6224546" cy="582620"/>
          </a:xfrm>
        </p:grpSpPr>
        <p:sp>
          <p:nvSpPr>
            <p:cNvPr id="10" name="Freeform 10"/>
            <p:cNvSpPr/>
            <p:nvPr/>
          </p:nvSpPr>
          <p:spPr>
            <a:xfrm>
              <a:off x="1820252" y="18024"/>
              <a:ext cx="359721" cy="546572"/>
            </a:xfrm>
            <a:custGeom>
              <a:avLst/>
              <a:gdLst/>
              <a:ahLst/>
              <a:cxnLst/>
              <a:rect l="l" t="t" r="r" b="b"/>
              <a:pathLst>
                <a:path w="359721" h="546572">
                  <a:moveTo>
                    <a:pt x="0" y="0"/>
                  </a:moveTo>
                  <a:lnTo>
                    <a:pt x="359721" y="0"/>
                  </a:lnTo>
                  <a:lnTo>
                    <a:pt x="359721" y="546572"/>
                  </a:lnTo>
                  <a:lnTo>
                    <a:pt x="0" y="54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30422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596062" y="25274"/>
              <a:ext cx="538648" cy="539322"/>
            </a:xfrm>
            <a:custGeom>
              <a:avLst/>
              <a:gdLst/>
              <a:ahLst/>
              <a:cxnLst/>
              <a:rect l="l" t="t" r="r" b="b"/>
              <a:pathLst>
                <a:path w="538648" h="539322">
                  <a:moveTo>
                    <a:pt x="0" y="0"/>
                  </a:moveTo>
                  <a:lnTo>
                    <a:pt x="538647" y="0"/>
                  </a:lnTo>
                  <a:lnTo>
                    <a:pt x="538647" y="539322"/>
                  </a:lnTo>
                  <a:lnTo>
                    <a:pt x="0" y="53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5010245" y="25274"/>
              <a:ext cx="1214301" cy="475095"/>
            </a:xfrm>
            <a:custGeom>
              <a:avLst/>
              <a:gdLst/>
              <a:ahLst/>
              <a:cxnLst/>
              <a:rect l="l" t="t" r="r" b="b"/>
              <a:pathLst>
                <a:path w="1214301" h="475095">
                  <a:moveTo>
                    <a:pt x="0" y="0"/>
                  </a:moveTo>
                  <a:lnTo>
                    <a:pt x="1214301" y="0"/>
                  </a:lnTo>
                  <a:lnTo>
                    <a:pt x="1214301" y="475095"/>
                  </a:lnTo>
                  <a:lnTo>
                    <a:pt x="0" y="475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520834" cy="582620"/>
            </a:xfrm>
            <a:custGeom>
              <a:avLst/>
              <a:gdLst/>
              <a:ahLst/>
              <a:cxnLst/>
              <a:rect l="l" t="t" r="r" b="b"/>
              <a:pathLst>
                <a:path w="1520834" h="582620">
                  <a:moveTo>
                    <a:pt x="0" y="0"/>
                  </a:moveTo>
                  <a:lnTo>
                    <a:pt x="1520834" y="0"/>
                  </a:lnTo>
                  <a:lnTo>
                    <a:pt x="1520834" y="582620"/>
                  </a:lnTo>
                  <a:lnTo>
                    <a:pt x="0" y="582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80788" b="-80244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3394263" y="14122"/>
              <a:ext cx="1395776" cy="561627"/>
            </a:xfrm>
            <a:custGeom>
              <a:avLst/>
              <a:gdLst/>
              <a:ahLst/>
              <a:cxnLst/>
              <a:rect l="l" t="t" r="r" b="b"/>
              <a:pathLst>
                <a:path w="1395776" h="561627">
                  <a:moveTo>
                    <a:pt x="0" y="0"/>
                  </a:moveTo>
                  <a:lnTo>
                    <a:pt x="1395776" y="0"/>
                  </a:lnTo>
                  <a:lnTo>
                    <a:pt x="1395776" y="561626"/>
                  </a:lnTo>
                  <a:lnTo>
                    <a:pt x="0" y="561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73994" b="-74529"/>
              </a:stretch>
            </a:blipFill>
          </p:spPr>
        </p:sp>
        <p:sp>
          <p:nvSpPr>
            <p:cNvPr id="15" name="AutoShape 15"/>
            <p:cNvSpPr/>
            <p:nvPr/>
          </p:nvSpPr>
          <p:spPr>
            <a:xfrm flipV="1">
              <a:off x="1577762" y="40304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" name="AutoShape 16"/>
            <p:cNvSpPr/>
            <p:nvPr/>
          </p:nvSpPr>
          <p:spPr>
            <a:xfrm flipV="1">
              <a:off x="2437300" y="46327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7" name="AutoShape 17"/>
            <p:cNvSpPr/>
            <p:nvPr/>
          </p:nvSpPr>
          <p:spPr>
            <a:xfrm flipV="1">
              <a:off x="4804191" y="24874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" name="AutoShape 18"/>
            <p:cNvSpPr/>
            <p:nvPr/>
          </p:nvSpPr>
          <p:spPr>
            <a:xfrm flipV="1">
              <a:off x="3351775" y="46327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  <p:pic>
        <p:nvPicPr>
          <p:cNvPr id="19" name="Picture 18" descr="problem_infographic_1774024029378.png">
            <a:extLst>
              <a:ext uri="{FF2B5EF4-FFF2-40B4-BE49-F238E27FC236}">
                <a16:creationId xmlns:a16="http://schemas.microsoft.com/office/drawing/2014/main" id="{C74927E8-6935-F22F-8A26-8FC314DF73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80308" y="1866900"/>
            <a:ext cx="9971867" cy="582263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097ADBE-86AA-18A9-D89B-E98D3BBC7D74}"/>
              </a:ext>
            </a:extLst>
          </p:cNvPr>
          <p:cNvSpPr/>
          <p:nvPr/>
        </p:nvSpPr>
        <p:spPr>
          <a:xfrm>
            <a:off x="1160672" y="2261600"/>
            <a:ext cx="3857120" cy="2152689"/>
          </a:xfrm>
          <a:prstGeom prst="rect">
            <a:avLst/>
          </a:prstGeom>
          <a:solidFill>
            <a:srgbClr val="0D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02328" y="3282846"/>
            <a:ext cx="38507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FFFFF"/>
                </a:solidFill>
              </a:rPr>
              <a:t>Farmers eligible in
Uttarakhand under PMDDKY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B19B53-5403-F603-688F-90DE0F0BA939}"/>
              </a:ext>
            </a:extLst>
          </p:cNvPr>
          <p:cNvSpPr txBox="1"/>
          <p:nvPr/>
        </p:nvSpPr>
        <p:spPr>
          <a:xfrm>
            <a:off x="1619241" y="2326947"/>
            <a:ext cx="2926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solidFill>
                  <a:srgbClr val="00C97A"/>
                </a:solidFill>
              </a:rPr>
              <a:t>5.8 LAKH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2B6669-7714-7117-2E64-05D8408B5DCC}"/>
              </a:ext>
            </a:extLst>
          </p:cNvPr>
          <p:cNvSpPr/>
          <p:nvPr/>
        </p:nvSpPr>
        <p:spPr>
          <a:xfrm>
            <a:off x="1146770" y="4633274"/>
            <a:ext cx="3871022" cy="1358041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4FFEA6-004E-E180-7081-3B185EA8C2CF}"/>
              </a:ext>
            </a:extLst>
          </p:cNvPr>
          <p:cNvSpPr txBox="1"/>
          <p:nvPr/>
        </p:nvSpPr>
        <p:spPr>
          <a:xfrm>
            <a:off x="1729320" y="4751815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13 Backward Districts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419BE3-13D6-E3A2-95AD-A33F8A9BDBAA}"/>
              </a:ext>
            </a:extLst>
          </p:cNvPr>
          <p:cNvSpPr txBox="1"/>
          <p:nvPr/>
        </p:nvSpPr>
        <p:spPr>
          <a:xfrm>
            <a:off x="1658543" y="5274810"/>
            <a:ext cx="2926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AADDBB"/>
                </a:solidFill>
              </a:rPr>
              <a:t>Zero unified visibility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6F64F3-A15E-0B4B-6A6D-4083BE6765AE}"/>
              </a:ext>
            </a:extLst>
          </p:cNvPr>
          <p:cNvSpPr/>
          <p:nvPr/>
        </p:nvSpPr>
        <p:spPr>
          <a:xfrm>
            <a:off x="1160672" y="6210300"/>
            <a:ext cx="3906191" cy="1479233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65FE5A-E679-09CD-618A-DBF7711D7AFF}"/>
              </a:ext>
            </a:extLst>
          </p:cNvPr>
          <p:cNvSpPr txBox="1"/>
          <p:nvPr/>
        </p:nvSpPr>
        <p:spPr>
          <a:xfrm>
            <a:off x="1670735" y="6326237"/>
            <a:ext cx="2913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MONTHS of delay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F41ABA-6463-6C90-0650-E3C0DAF04C2E}"/>
              </a:ext>
            </a:extLst>
          </p:cNvPr>
          <p:cNvSpPr txBox="1"/>
          <p:nvPr/>
        </p:nvSpPr>
        <p:spPr>
          <a:xfrm>
            <a:off x="1653463" y="6898314"/>
            <a:ext cx="2926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FFCCCC"/>
                </a:solidFill>
              </a:rPr>
              <a:t>in fund disbursement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28B66B-9A9F-8B13-CBE8-969E75106BB8}"/>
              </a:ext>
            </a:extLst>
          </p:cNvPr>
          <p:cNvSpPr txBox="1"/>
          <p:nvPr/>
        </p:nvSpPr>
        <p:spPr>
          <a:xfrm>
            <a:off x="1160672" y="7943699"/>
            <a:ext cx="1179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555555"/>
                </a:solidFill>
              </a:rPr>
              <a:t>District officials rely on paper registers &amp; siloed Excel files — no central platform, no real-time visibility, no anomaly detection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1"/>
            <a:ext cx="18288001" cy="10287000"/>
          </a:xfrm>
          <a:custGeom>
            <a:avLst/>
            <a:gdLst/>
            <a:ahLst/>
            <a:cxnLst/>
            <a:rect l="l" t="t" r="r" b="b"/>
            <a:pathLst>
              <a:path w="20238818" h="13484113">
                <a:moveTo>
                  <a:pt x="0" y="0"/>
                </a:moveTo>
                <a:lnTo>
                  <a:pt x="20238818" y="0"/>
                </a:lnTo>
                <a:lnTo>
                  <a:pt x="20238818" y="13484113"/>
                </a:lnTo>
                <a:lnTo>
                  <a:pt x="0" y="13484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06256" y="1104900"/>
            <a:ext cx="17875488" cy="8754177"/>
            <a:chOff x="0" y="0"/>
            <a:chExt cx="2789895" cy="13662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89895" cy="1366297"/>
            </a:xfrm>
            <a:custGeom>
              <a:avLst/>
              <a:gdLst/>
              <a:ahLst/>
              <a:cxnLst/>
              <a:rect l="l" t="t" r="r" b="b"/>
              <a:pathLst>
                <a:path w="2789895" h="1366297">
                  <a:moveTo>
                    <a:pt x="14292" y="0"/>
                  </a:moveTo>
                  <a:lnTo>
                    <a:pt x="2775602" y="0"/>
                  </a:lnTo>
                  <a:cubicBezTo>
                    <a:pt x="2783496" y="0"/>
                    <a:pt x="2789895" y="6399"/>
                    <a:pt x="2789895" y="14292"/>
                  </a:cubicBezTo>
                  <a:lnTo>
                    <a:pt x="2789895" y="1352005"/>
                  </a:lnTo>
                  <a:cubicBezTo>
                    <a:pt x="2789895" y="1359898"/>
                    <a:pt x="2783496" y="1366297"/>
                    <a:pt x="2775602" y="1366297"/>
                  </a:cubicBezTo>
                  <a:lnTo>
                    <a:pt x="14292" y="1366297"/>
                  </a:lnTo>
                  <a:cubicBezTo>
                    <a:pt x="10502" y="1366297"/>
                    <a:pt x="6866" y="1364792"/>
                    <a:pt x="4186" y="1362111"/>
                  </a:cubicBezTo>
                  <a:cubicBezTo>
                    <a:pt x="1506" y="1359431"/>
                    <a:pt x="0" y="1355796"/>
                    <a:pt x="0" y="1352005"/>
                  </a:cubicBezTo>
                  <a:lnTo>
                    <a:pt x="0" y="14292"/>
                  </a:lnTo>
                  <a:cubicBezTo>
                    <a:pt x="0" y="10502"/>
                    <a:pt x="1506" y="6866"/>
                    <a:pt x="4186" y="4186"/>
                  </a:cubicBezTo>
                  <a:cubicBezTo>
                    <a:pt x="6866" y="1506"/>
                    <a:pt x="10502" y="0"/>
                    <a:pt x="14292" y="0"/>
                  </a:cubicBezTo>
                  <a:close/>
                </a:path>
              </a:pathLst>
            </a:custGeom>
            <a:solidFill>
              <a:srgbClr val="F8FBF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89895" cy="1404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96297" y="292778"/>
            <a:ext cx="4265444" cy="569409"/>
          </a:xfrm>
          <a:custGeom>
            <a:avLst/>
            <a:gdLst/>
            <a:ahLst/>
            <a:cxnLst/>
            <a:rect l="l" t="t" r="r" b="b"/>
            <a:pathLst>
              <a:path w="4265444" h="569409">
                <a:moveTo>
                  <a:pt x="0" y="0"/>
                </a:moveTo>
                <a:lnTo>
                  <a:pt x="4265443" y="0"/>
                </a:lnTo>
                <a:lnTo>
                  <a:pt x="4265443" y="569409"/>
                </a:lnTo>
                <a:lnTo>
                  <a:pt x="0" y="569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20763" b="-328336"/>
            </a:stretch>
          </a:blipFill>
        </p:spPr>
      </p:sp>
      <p:grpSp>
        <p:nvGrpSpPr>
          <p:cNvPr id="20" name="Group 9"/>
          <p:cNvGrpSpPr/>
          <p:nvPr/>
        </p:nvGrpSpPr>
        <p:grpSpPr>
          <a:xfrm>
            <a:off x="13318339" y="292778"/>
            <a:ext cx="4668409" cy="436965"/>
            <a:chOff x="0" y="0"/>
            <a:chExt cx="6224546" cy="582620"/>
          </a:xfrm>
        </p:grpSpPr>
        <p:sp>
          <p:nvSpPr>
            <p:cNvPr id="21" name="Freeform 10"/>
            <p:cNvSpPr/>
            <p:nvPr/>
          </p:nvSpPr>
          <p:spPr>
            <a:xfrm>
              <a:off x="1820252" y="18024"/>
              <a:ext cx="359721" cy="546572"/>
            </a:xfrm>
            <a:custGeom>
              <a:avLst/>
              <a:gdLst/>
              <a:ahLst/>
              <a:cxnLst/>
              <a:rect l="l" t="t" r="r" b="b"/>
              <a:pathLst>
                <a:path w="359721" h="546572">
                  <a:moveTo>
                    <a:pt x="0" y="0"/>
                  </a:moveTo>
                  <a:lnTo>
                    <a:pt x="359721" y="0"/>
                  </a:lnTo>
                  <a:lnTo>
                    <a:pt x="359721" y="546572"/>
                  </a:lnTo>
                  <a:lnTo>
                    <a:pt x="0" y="54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0422"/>
              </a:stretch>
            </a:blipFill>
          </p:spPr>
        </p:sp>
        <p:sp>
          <p:nvSpPr>
            <p:cNvPr id="22" name="Freeform 11"/>
            <p:cNvSpPr/>
            <p:nvPr/>
          </p:nvSpPr>
          <p:spPr>
            <a:xfrm>
              <a:off x="2596062" y="25274"/>
              <a:ext cx="538648" cy="539322"/>
            </a:xfrm>
            <a:custGeom>
              <a:avLst/>
              <a:gdLst/>
              <a:ahLst/>
              <a:cxnLst/>
              <a:rect l="l" t="t" r="r" b="b"/>
              <a:pathLst>
                <a:path w="538648" h="539322">
                  <a:moveTo>
                    <a:pt x="0" y="0"/>
                  </a:moveTo>
                  <a:lnTo>
                    <a:pt x="538647" y="0"/>
                  </a:lnTo>
                  <a:lnTo>
                    <a:pt x="538647" y="539322"/>
                  </a:lnTo>
                  <a:lnTo>
                    <a:pt x="0" y="53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23" name="Freeform 12"/>
            <p:cNvSpPr/>
            <p:nvPr/>
          </p:nvSpPr>
          <p:spPr>
            <a:xfrm>
              <a:off x="5010245" y="25274"/>
              <a:ext cx="1214301" cy="475095"/>
            </a:xfrm>
            <a:custGeom>
              <a:avLst/>
              <a:gdLst/>
              <a:ahLst/>
              <a:cxnLst/>
              <a:rect l="l" t="t" r="r" b="b"/>
              <a:pathLst>
                <a:path w="1214301" h="475095">
                  <a:moveTo>
                    <a:pt x="0" y="0"/>
                  </a:moveTo>
                  <a:lnTo>
                    <a:pt x="1214301" y="0"/>
                  </a:lnTo>
                  <a:lnTo>
                    <a:pt x="1214301" y="475095"/>
                  </a:lnTo>
                  <a:lnTo>
                    <a:pt x="0" y="475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4" name="Freeform 13"/>
            <p:cNvSpPr/>
            <p:nvPr/>
          </p:nvSpPr>
          <p:spPr>
            <a:xfrm>
              <a:off x="0" y="0"/>
              <a:ext cx="1520834" cy="582620"/>
            </a:xfrm>
            <a:custGeom>
              <a:avLst/>
              <a:gdLst/>
              <a:ahLst/>
              <a:cxnLst/>
              <a:rect l="l" t="t" r="r" b="b"/>
              <a:pathLst>
                <a:path w="1520834" h="582620">
                  <a:moveTo>
                    <a:pt x="0" y="0"/>
                  </a:moveTo>
                  <a:lnTo>
                    <a:pt x="1520834" y="0"/>
                  </a:lnTo>
                  <a:lnTo>
                    <a:pt x="1520834" y="582620"/>
                  </a:lnTo>
                  <a:lnTo>
                    <a:pt x="0" y="582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80788" b="-80244"/>
              </a:stretch>
            </a:blipFill>
          </p:spPr>
        </p:sp>
        <p:sp>
          <p:nvSpPr>
            <p:cNvPr id="25" name="Freeform 14"/>
            <p:cNvSpPr/>
            <p:nvPr/>
          </p:nvSpPr>
          <p:spPr>
            <a:xfrm>
              <a:off x="3394263" y="14122"/>
              <a:ext cx="1395776" cy="561627"/>
            </a:xfrm>
            <a:custGeom>
              <a:avLst/>
              <a:gdLst/>
              <a:ahLst/>
              <a:cxnLst/>
              <a:rect l="l" t="t" r="r" b="b"/>
              <a:pathLst>
                <a:path w="1395776" h="561627">
                  <a:moveTo>
                    <a:pt x="0" y="0"/>
                  </a:moveTo>
                  <a:lnTo>
                    <a:pt x="1395776" y="0"/>
                  </a:lnTo>
                  <a:lnTo>
                    <a:pt x="1395776" y="561626"/>
                  </a:lnTo>
                  <a:lnTo>
                    <a:pt x="0" y="561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73994" b="-74529"/>
              </a:stretch>
            </a:blipFill>
          </p:spPr>
        </p:sp>
        <p:sp>
          <p:nvSpPr>
            <p:cNvPr id="26" name="AutoShape 15"/>
            <p:cNvSpPr/>
            <p:nvPr/>
          </p:nvSpPr>
          <p:spPr>
            <a:xfrm flipV="1">
              <a:off x="1577762" y="40304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16"/>
            <p:cNvSpPr/>
            <p:nvPr/>
          </p:nvSpPr>
          <p:spPr>
            <a:xfrm flipV="1">
              <a:off x="2437300" y="46327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17"/>
            <p:cNvSpPr/>
            <p:nvPr/>
          </p:nvSpPr>
          <p:spPr>
            <a:xfrm flipV="1">
              <a:off x="4804191" y="24874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18"/>
            <p:cNvSpPr/>
            <p:nvPr/>
          </p:nvSpPr>
          <p:spPr>
            <a:xfrm flipV="1">
              <a:off x="3351775" y="46327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0" name="Freeform 7"/>
          <p:cNvSpPr/>
          <p:nvPr/>
        </p:nvSpPr>
        <p:spPr>
          <a:xfrm>
            <a:off x="7391400" y="288797"/>
            <a:ext cx="3994743" cy="519317"/>
          </a:xfrm>
          <a:custGeom>
            <a:avLst/>
            <a:gdLst/>
            <a:ahLst/>
            <a:cxnLst/>
            <a:rect l="l" t="t" r="r" b="b"/>
            <a:pathLst>
              <a:path w="4437093" h="576822">
                <a:moveTo>
                  <a:pt x="0" y="0"/>
                </a:moveTo>
                <a:lnTo>
                  <a:pt x="4437092" y="0"/>
                </a:lnTo>
                <a:lnTo>
                  <a:pt x="4437092" y="576822"/>
                </a:lnTo>
                <a:lnTo>
                  <a:pt x="0" y="5768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32DCAE-057D-ABD9-95BB-86FE40423229}"/>
              </a:ext>
            </a:extLst>
          </p:cNvPr>
          <p:cNvSpPr/>
          <p:nvPr/>
        </p:nvSpPr>
        <p:spPr>
          <a:xfrm>
            <a:off x="1143000" y="2019300"/>
            <a:ext cx="3957936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6BC316-74B0-9E86-132D-468E680ADE7F}"/>
              </a:ext>
            </a:extLst>
          </p:cNvPr>
          <p:cNvSpPr txBox="1"/>
          <p:nvPr/>
        </p:nvSpPr>
        <p:spPr>
          <a:xfrm>
            <a:off x="1414800" y="214941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3D22"/>
                </a:solidFill>
              </a:rPr>
              <a:t>📡  Real-Time Dashboard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39091-76C8-4324-F1D1-080DF489C2B9}"/>
              </a:ext>
            </a:extLst>
          </p:cNvPr>
          <p:cNvSpPr txBox="1"/>
          <p:nvPr/>
        </p:nvSpPr>
        <p:spPr>
          <a:xfrm>
            <a:off x="1273654" y="2673628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11111"/>
                </a:solidFill>
              </a:rPr>
              <a:t>Live KPI cards — beneficiaries, funds, district progress, % verified</a:t>
            </a:r>
            <a:endParaRPr sz="900" b="0" i="0" dirty="0">
              <a:solidFill>
                <a:srgbClr val="11111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C09BE9-FBF2-5C8D-7EBF-593B7A8D1A4B}"/>
              </a:ext>
            </a:extLst>
          </p:cNvPr>
          <p:cNvSpPr/>
          <p:nvPr/>
        </p:nvSpPr>
        <p:spPr>
          <a:xfrm>
            <a:off x="1143000" y="3847917"/>
            <a:ext cx="3957936" cy="1371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375E4F-05EA-EBAB-57A3-A0B4C4F27C64}"/>
              </a:ext>
            </a:extLst>
          </p:cNvPr>
          <p:cNvSpPr txBox="1"/>
          <p:nvPr/>
        </p:nvSpPr>
        <p:spPr>
          <a:xfrm>
            <a:off x="1414800" y="3988231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3D22"/>
                </a:solidFill>
              </a:rPr>
              <a:t>🗺️  GIS District Map</a:t>
            </a:r>
            <a:endParaRPr sz="1100" b="1" i="0" dirty="0">
              <a:solidFill>
                <a:srgbClr val="0D3D2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58B266-77B2-E60E-CECB-B5E5F69DD412}"/>
              </a:ext>
            </a:extLst>
          </p:cNvPr>
          <p:cNvSpPr txBox="1"/>
          <p:nvPr/>
        </p:nvSpPr>
        <p:spPr>
          <a:xfrm>
            <a:off x="1337662" y="4522357"/>
            <a:ext cx="3383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11111"/>
                </a:solidFill>
              </a:rPr>
              <a:t>Choropleth map of Uttarakhand's 13 districts — click to drill down</a:t>
            </a:r>
            <a:endParaRPr sz="900" b="0" i="0" dirty="0">
              <a:solidFill>
                <a:srgbClr val="11111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1EC72B-1339-994D-9EDB-D5B20FBC6B27}"/>
              </a:ext>
            </a:extLst>
          </p:cNvPr>
          <p:cNvSpPr/>
          <p:nvPr/>
        </p:nvSpPr>
        <p:spPr>
          <a:xfrm>
            <a:off x="1143000" y="5670489"/>
            <a:ext cx="3957936" cy="13715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1EBAB8-DF45-63A8-516E-F3CB54A7F281}"/>
              </a:ext>
            </a:extLst>
          </p:cNvPr>
          <p:cNvSpPr txBox="1"/>
          <p:nvPr/>
        </p:nvSpPr>
        <p:spPr>
          <a:xfrm>
            <a:off x="1462713" y="5767678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3D22"/>
                </a:solidFill>
              </a:rPr>
              <a:t>🤖  AI Analytics</a:t>
            </a:r>
            <a:endParaRPr sz="1100" b="1" i="0" dirty="0">
              <a:solidFill>
                <a:srgbClr val="0D3D2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9E0206-4CCE-7FF5-419F-9F104CF67BDA}"/>
              </a:ext>
            </a:extLst>
          </p:cNvPr>
          <p:cNvSpPr txBox="1"/>
          <p:nvPr/>
        </p:nvSpPr>
        <p:spPr>
          <a:xfrm>
            <a:off x="1337662" y="6293061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11111"/>
                </a:solidFill>
              </a:rPr>
              <a:t>Anomaly detection, trend forecasting, district performance ranking</a:t>
            </a:r>
            <a:endParaRPr sz="900" b="0" i="0" dirty="0">
              <a:solidFill>
                <a:srgbClr val="11111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B7AA1E-FFE7-8874-479B-A7E6CC397FC6}"/>
              </a:ext>
            </a:extLst>
          </p:cNvPr>
          <p:cNvSpPr/>
          <p:nvPr/>
        </p:nvSpPr>
        <p:spPr>
          <a:xfrm>
            <a:off x="1143000" y="7493060"/>
            <a:ext cx="1828800" cy="13715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255AE1-CF22-FFCE-0397-19569AF74B9B}"/>
              </a:ext>
            </a:extLst>
          </p:cNvPr>
          <p:cNvSpPr txBox="1"/>
          <p:nvPr/>
        </p:nvSpPr>
        <p:spPr>
          <a:xfrm>
            <a:off x="1243584" y="7607952"/>
            <a:ext cx="1627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3D22"/>
                </a:solidFill>
              </a:rPr>
              <a:t>📋 Beneficiary
Management</a:t>
            </a:r>
            <a:endParaRPr sz="1000" b="1" i="0" dirty="0">
              <a:solidFill>
                <a:srgbClr val="0D3D22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D4C8A9-38C5-CE60-EECB-4624B0AE1D79}"/>
              </a:ext>
            </a:extLst>
          </p:cNvPr>
          <p:cNvSpPr txBox="1"/>
          <p:nvPr/>
        </p:nvSpPr>
        <p:spPr>
          <a:xfrm>
            <a:off x="1273654" y="8246064"/>
            <a:ext cx="16276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11111"/>
                </a:solidFill>
              </a:rPr>
              <a:t>Aadhaar-verified records, status badges</a:t>
            </a:r>
            <a:endParaRPr sz="800" b="0" i="0" dirty="0">
              <a:solidFill>
                <a:srgbClr val="11111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3B2250-9AFB-925D-3B96-C55AF036ECC4}"/>
              </a:ext>
            </a:extLst>
          </p:cNvPr>
          <p:cNvSpPr/>
          <p:nvPr/>
        </p:nvSpPr>
        <p:spPr>
          <a:xfrm>
            <a:off x="3272136" y="7493060"/>
            <a:ext cx="1828800" cy="13715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733C57-5CB8-3ABA-E9B7-A11857C627CD}"/>
              </a:ext>
            </a:extLst>
          </p:cNvPr>
          <p:cNvSpPr txBox="1"/>
          <p:nvPr/>
        </p:nvSpPr>
        <p:spPr>
          <a:xfrm>
            <a:off x="3372720" y="7607952"/>
            <a:ext cx="1627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3D22"/>
                </a:solidFill>
              </a:rPr>
              <a:t>⚡ Socket.IO
Real-Time</a:t>
            </a:r>
            <a:endParaRPr sz="1000" b="1" i="0" dirty="0">
              <a:solidFill>
                <a:srgbClr val="0D3D2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BF999-3E1D-F107-B0C4-EA131C4C43D2}"/>
              </a:ext>
            </a:extLst>
          </p:cNvPr>
          <p:cNvSpPr txBox="1"/>
          <p:nvPr/>
        </p:nvSpPr>
        <p:spPr>
          <a:xfrm>
            <a:off x="3372720" y="8244240"/>
            <a:ext cx="162763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11111"/>
                </a:solidFill>
              </a:rPr>
              <a:t>Live push — no page reload needed</a:t>
            </a:r>
            <a:endParaRPr sz="800" b="0" i="0" dirty="0">
              <a:solidFill>
                <a:srgbClr val="111111"/>
              </a:solidFill>
            </a:endParaRPr>
          </a:p>
        </p:txBody>
      </p:sp>
      <p:pic>
        <p:nvPicPr>
          <p:cNvPr id="36" name="Picture 35" descr="dashboard_wireframe_1774023985338.png">
            <a:extLst>
              <a:ext uri="{FF2B5EF4-FFF2-40B4-BE49-F238E27FC236}">
                <a16:creationId xmlns:a16="http://schemas.microsoft.com/office/drawing/2014/main" id="{3FA79417-BC5A-A735-1A8F-6110B209B7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8394" y="2028791"/>
            <a:ext cx="10845616" cy="6835867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05FE366B-0757-9B0A-319B-74E5D42E82E1}"/>
              </a:ext>
            </a:extLst>
          </p:cNvPr>
          <p:cNvSpPr/>
          <p:nvPr/>
        </p:nvSpPr>
        <p:spPr>
          <a:xfrm>
            <a:off x="1126031" y="2019300"/>
            <a:ext cx="45719" cy="1371598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1A52928-06D8-A996-2E5C-D613AB2DB085}"/>
              </a:ext>
            </a:extLst>
          </p:cNvPr>
          <p:cNvSpPr/>
          <p:nvPr/>
        </p:nvSpPr>
        <p:spPr>
          <a:xfrm>
            <a:off x="1126031" y="3873924"/>
            <a:ext cx="45719" cy="1371598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7A20186-A964-9C7C-51C2-DFC474A54CCE}"/>
              </a:ext>
            </a:extLst>
          </p:cNvPr>
          <p:cNvSpPr/>
          <p:nvPr/>
        </p:nvSpPr>
        <p:spPr>
          <a:xfrm>
            <a:off x="1145385" y="5677366"/>
            <a:ext cx="45719" cy="1371598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2CD06B5-D2DD-C855-A7C8-F7A319F28078}"/>
              </a:ext>
            </a:extLst>
          </p:cNvPr>
          <p:cNvSpPr/>
          <p:nvPr/>
        </p:nvSpPr>
        <p:spPr>
          <a:xfrm>
            <a:off x="1139497" y="7502476"/>
            <a:ext cx="45719" cy="1371597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E96D2B0-D2BA-C1CD-0664-08F7650ABF88}"/>
              </a:ext>
            </a:extLst>
          </p:cNvPr>
          <p:cNvSpPr/>
          <p:nvPr/>
        </p:nvSpPr>
        <p:spPr>
          <a:xfrm>
            <a:off x="3272137" y="7493060"/>
            <a:ext cx="46326" cy="1396397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1"/>
            <a:ext cx="18288001" cy="10287000"/>
          </a:xfrm>
          <a:custGeom>
            <a:avLst/>
            <a:gdLst/>
            <a:ahLst/>
            <a:cxnLst/>
            <a:rect l="l" t="t" r="r" b="b"/>
            <a:pathLst>
              <a:path w="20238818" h="13484113">
                <a:moveTo>
                  <a:pt x="0" y="0"/>
                </a:moveTo>
                <a:lnTo>
                  <a:pt x="20238818" y="0"/>
                </a:lnTo>
                <a:lnTo>
                  <a:pt x="20238818" y="13484113"/>
                </a:lnTo>
                <a:lnTo>
                  <a:pt x="0" y="13484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06255" y="1139949"/>
            <a:ext cx="17875488" cy="8754177"/>
            <a:chOff x="0" y="0"/>
            <a:chExt cx="2789895" cy="13662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89895" cy="1366297"/>
            </a:xfrm>
            <a:custGeom>
              <a:avLst/>
              <a:gdLst/>
              <a:ahLst/>
              <a:cxnLst/>
              <a:rect l="l" t="t" r="r" b="b"/>
              <a:pathLst>
                <a:path w="2789895" h="1366297">
                  <a:moveTo>
                    <a:pt x="14292" y="0"/>
                  </a:moveTo>
                  <a:lnTo>
                    <a:pt x="2775602" y="0"/>
                  </a:lnTo>
                  <a:cubicBezTo>
                    <a:pt x="2783496" y="0"/>
                    <a:pt x="2789895" y="6399"/>
                    <a:pt x="2789895" y="14292"/>
                  </a:cubicBezTo>
                  <a:lnTo>
                    <a:pt x="2789895" y="1352005"/>
                  </a:lnTo>
                  <a:cubicBezTo>
                    <a:pt x="2789895" y="1359898"/>
                    <a:pt x="2783496" y="1366297"/>
                    <a:pt x="2775602" y="1366297"/>
                  </a:cubicBezTo>
                  <a:lnTo>
                    <a:pt x="14292" y="1366297"/>
                  </a:lnTo>
                  <a:cubicBezTo>
                    <a:pt x="10502" y="1366297"/>
                    <a:pt x="6866" y="1364792"/>
                    <a:pt x="4186" y="1362111"/>
                  </a:cubicBezTo>
                  <a:cubicBezTo>
                    <a:pt x="1506" y="1359431"/>
                    <a:pt x="0" y="1355796"/>
                    <a:pt x="0" y="1352005"/>
                  </a:cubicBezTo>
                  <a:lnTo>
                    <a:pt x="0" y="14292"/>
                  </a:lnTo>
                  <a:cubicBezTo>
                    <a:pt x="0" y="10502"/>
                    <a:pt x="1506" y="6866"/>
                    <a:pt x="4186" y="4186"/>
                  </a:cubicBezTo>
                  <a:cubicBezTo>
                    <a:pt x="6866" y="1506"/>
                    <a:pt x="10502" y="0"/>
                    <a:pt x="14292" y="0"/>
                  </a:cubicBezTo>
                  <a:close/>
                </a:path>
              </a:pathLst>
            </a:custGeom>
            <a:solidFill>
              <a:srgbClr val="F8FBF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89895" cy="1404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96297" y="292778"/>
            <a:ext cx="4265444" cy="569409"/>
          </a:xfrm>
          <a:custGeom>
            <a:avLst/>
            <a:gdLst/>
            <a:ahLst/>
            <a:cxnLst/>
            <a:rect l="l" t="t" r="r" b="b"/>
            <a:pathLst>
              <a:path w="4265444" h="569409">
                <a:moveTo>
                  <a:pt x="0" y="0"/>
                </a:moveTo>
                <a:lnTo>
                  <a:pt x="4265443" y="0"/>
                </a:lnTo>
                <a:lnTo>
                  <a:pt x="4265443" y="569409"/>
                </a:lnTo>
                <a:lnTo>
                  <a:pt x="0" y="569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20763" b="-328336"/>
            </a:stretch>
          </a:blipFill>
        </p:spPr>
      </p:sp>
      <p:grpSp>
        <p:nvGrpSpPr>
          <p:cNvPr id="20" name="Group 9"/>
          <p:cNvGrpSpPr/>
          <p:nvPr/>
        </p:nvGrpSpPr>
        <p:grpSpPr>
          <a:xfrm>
            <a:off x="13318339" y="292778"/>
            <a:ext cx="4668409" cy="436965"/>
            <a:chOff x="0" y="0"/>
            <a:chExt cx="6224546" cy="582620"/>
          </a:xfrm>
        </p:grpSpPr>
        <p:sp>
          <p:nvSpPr>
            <p:cNvPr id="21" name="Freeform 10"/>
            <p:cNvSpPr/>
            <p:nvPr/>
          </p:nvSpPr>
          <p:spPr>
            <a:xfrm>
              <a:off x="1820252" y="18024"/>
              <a:ext cx="359721" cy="546572"/>
            </a:xfrm>
            <a:custGeom>
              <a:avLst/>
              <a:gdLst/>
              <a:ahLst/>
              <a:cxnLst/>
              <a:rect l="l" t="t" r="r" b="b"/>
              <a:pathLst>
                <a:path w="359721" h="546572">
                  <a:moveTo>
                    <a:pt x="0" y="0"/>
                  </a:moveTo>
                  <a:lnTo>
                    <a:pt x="359721" y="0"/>
                  </a:lnTo>
                  <a:lnTo>
                    <a:pt x="359721" y="546572"/>
                  </a:lnTo>
                  <a:lnTo>
                    <a:pt x="0" y="54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0422"/>
              </a:stretch>
            </a:blipFill>
          </p:spPr>
        </p:sp>
        <p:sp>
          <p:nvSpPr>
            <p:cNvPr id="22" name="Freeform 11"/>
            <p:cNvSpPr/>
            <p:nvPr/>
          </p:nvSpPr>
          <p:spPr>
            <a:xfrm>
              <a:off x="2596062" y="25274"/>
              <a:ext cx="538648" cy="539322"/>
            </a:xfrm>
            <a:custGeom>
              <a:avLst/>
              <a:gdLst/>
              <a:ahLst/>
              <a:cxnLst/>
              <a:rect l="l" t="t" r="r" b="b"/>
              <a:pathLst>
                <a:path w="538648" h="539322">
                  <a:moveTo>
                    <a:pt x="0" y="0"/>
                  </a:moveTo>
                  <a:lnTo>
                    <a:pt x="538647" y="0"/>
                  </a:lnTo>
                  <a:lnTo>
                    <a:pt x="538647" y="539322"/>
                  </a:lnTo>
                  <a:lnTo>
                    <a:pt x="0" y="53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23" name="Freeform 12"/>
            <p:cNvSpPr/>
            <p:nvPr/>
          </p:nvSpPr>
          <p:spPr>
            <a:xfrm>
              <a:off x="5010245" y="25274"/>
              <a:ext cx="1214301" cy="475095"/>
            </a:xfrm>
            <a:custGeom>
              <a:avLst/>
              <a:gdLst/>
              <a:ahLst/>
              <a:cxnLst/>
              <a:rect l="l" t="t" r="r" b="b"/>
              <a:pathLst>
                <a:path w="1214301" h="475095">
                  <a:moveTo>
                    <a:pt x="0" y="0"/>
                  </a:moveTo>
                  <a:lnTo>
                    <a:pt x="1214301" y="0"/>
                  </a:lnTo>
                  <a:lnTo>
                    <a:pt x="1214301" y="475095"/>
                  </a:lnTo>
                  <a:lnTo>
                    <a:pt x="0" y="475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4" name="Freeform 13"/>
            <p:cNvSpPr/>
            <p:nvPr/>
          </p:nvSpPr>
          <p:spPr>
            <a:xfrm>
              <a:off x="0" y="0"/>
              <a:ext cx="1520834" cy="582620"/>
            </a:xfrm>
            <a:custGeom>
              <a:avLst/>
              <a:gdLst/>
              <a:ahLst/>
              <a:cxnLst/>
              <a:rect l="l" t="t" r="r" b="b"/>
              <a:pathLst>
                <a:path w="1520834" h="582620">
                  <a:moveTo>
                    <a:pt x="0" y="0"/>
                  </a:moveTo>
                  <a:lnTo>
                    <a:pt x="1520834" y="0"/>
                  </a:lnTo>
                  <a:lnTo>
                    <a:pt x="1520834" y="582620"/>
                  </a:lnTo>
                  <a:lnTo>
                    <a:pt x="0" y="582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80788" b="-80244"/>
              </a:stretch>
            </a:blipFill>
          </p:spPr>
        </p:sp>
        <p:sp>
          <p:nvSpPr>
            <p:cNvPr id="25" name="Freeform 14"/>
            <p:cNvSpPr/>
            <p:nvPr/>
          </p:nvSpPr>
          <p:spPr>
            <a:xfrm>
              <a:off x="3394263" y="14122"/>
              <a:ext cx="1395776" cy="561627"/>
            </a:xfrm>
            <a:custGeom>
              <a:avLst/>
              <a:gdLst/>
              <a:ahLst/>
              <a:cxnLst/>
              <a:rect l="l" t="t" r="r" b="b"/>
              <a:pathLst>
                <a:path w="1395776" h="561627">
                  <a:moveTo>
                    <a:pt x="0" y="0"/>
                  </a:moveTo>
                  <a:lnTo>
                    <a:pt x="1395776" y="0"/>
                  </a:lnTo>
                  <a:lnTo>
                    <a:pt x="1395776" y="561626"/>
                  </a:lnTo>
                  <a:lnTo>
                    <a:pt x="0" y="561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73994" b="-74529"/>
              </a:stretch>
            </a:blipFill>
          </p:spPr>
        </p:sp>
        <p:sp>
          <p:nvSpPr>
            <p:cNvPr id="26" name="AutoShape 15"/>
            <p:cNvSpPr/>
            <p:nvPr/>
          </p:nvSpPr>
          <p:spPr>
            <a:xfrm flipV="1">
              <a:off x="1577762" y="40304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16"/>
            <p:cNvSpPr/>
            <p:nvPr/>
          </p:nvSpPr>
          <p:spPr>
            <a:xfrm flipV="1">
              <a:off x="2437300" y="46327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17"/>
            <p:cNvSpPr/>
            <p:nvPr/>
          </p:nvSpPr>
          <p:spPr>
            <a:xfrm flipV="1">
              <a:off x="4804191" y="24874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18"/>
            <p:cNvSpPr/>
            <p:nvPr/>
          </p:nvSpPr>
          <p:spPr>
            <a:xfrm flipV="1">
              <a:off x="3351775" y="46327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0" name="Freeform 7"/>
          <p:cNvSpPr/>
          <p:nvPr/>
        </p:nvSpPr>
        <p:spPr>
          <a:xfrm>
            <a:off x="7391400" y="288797"/>
            <a:ext cx="3994743" cy="519317"/>
          </a:xfrm>
          <a:custGeom>
            <a:avLst/>
            <a:gdLst/>
            <a:ahLst/>
            <a:cxnLst/>
            <a:rect l="l" t="t" r="r" b="b"/>
            <a:pathLst>
              <a:path w="4437093" h="576822">
                <a:moveTo>
                  <a:pt x="0" y="0"/>
                </a:moveTo>
                <a:lnTo>
                  <a:pt x="4437092" y="0"/>
                </a:lnTo>
                <a:lnTo>
                  <a:pt x="4437092" y="576822"/>
                </a:lnTo>
                <a:lnTo>
                  <a:pt x="0" y="5768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79051E-A8BE-3B6D-272B-833883F3C090}"/>
              </a:ext>
            </a:extLst>
          </p:cNvPr>
          <p:cNvSpPr/>
          <p:nvPr/>
        </p:nvSpPr>
        <p:spPr>
          <a:xfrm>
            <a:off x="1163158" y="2247899"/>
            <a:ext cx="3298583" cy="1399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531409-A5B1-870A-A328-3BFAEF52396F}"/>
              </a:ext>
            </a:extLst>
          </p:cNvPr>
          <p:cNvSpPr/>
          <p:nvPr/>
        </p:nvSpPr>
        <p:spPr>
          <a:xfrm>
            <a:off x="1163158" y="4004647"/>
            <a:ext cx="3298583" cy="1393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B04A41-33FC-BE84-CE0A-893F7E6FFAA8}"/>
              </a:ext>
            </a:extLst>
          </p:cNvPr>
          <p:cNvSpPr/>
          <p:nvPr/>
        </p:nvSpPr>
        <p:spPr>
          <a:xfrm>
            <a:off x="1163157" y="5767227"/>
            <a:ext cx="3298583" cy="13887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595AE-CC7C-961E-0B12-5F1E20BBECA7}"/>
              </a:ext>
            </a:extLst>
          </p:cNvPr>
          <p:cNvSpPr/>
          <p:nvPr/>
        </p:nvSpPr>
        <p:spPr>
          <a:xfrm>
            <a:off x="1163157" y="7445295"/>
            <a:ext cx="3298583" cy="13887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3" name="Picture 12" descr="tech_stack_diagram_1774024066853.png">
            <a:extLst>
              <a:ext uri="{FF2B5EF4-FFF2-40B4-BE49-F238E27FC236}">
                <a16:creationId xmlns:a16="http://schemas.microsoft.com/office/drawing/2014/main" id="{D39C6BE3-2DF7-FC17-DF19-BBDBEAA313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73714" y="2247898"/>
            <a:ext cx="12055014" cy="65861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023D502-938D-796C-4857-E2B6572DA890}"/>
              </a:ext>
            </a:extLst>
          </p:cNvPr>
          <p:cNvSpPr txBox="1"/>
          <p:nvPr/>
        </p:nvSpPr>
        <p:spPr>
          <a:xfrm>
            <a:off x="1532369" y="2608510"/>
            <a:ext cx="23833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111"/>
                </a:solidFill>
              </a:rPr>
              <a:t>100% Open Source
Zero licensing cost</a:t>
            </a:r>
            <a:endParaRPr sz="900" b="0" i="0" dirty="0">
              <a:solidFill>
                <a:srgbClr val="11111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F7D9D3-8575-A27D-8E14-DCA553931F0A}"/>
              </a:ext>
            </a:extLst>
          </p:cNvPr>
          <p:cNvSpPr txBox="1"/>
          <p:nvPr/>
        </p:nvSpPr>
        <p:spPr>
          <a:xfrm>
            <a:off x="1532369" y="4235661"/>
            <a:ext cx="2103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111"/>
                </a:solidFill>
              </a:rPr>
              <a:t>Deployable on ₹500/</a:t>
            </a:r>
            <a:r>
              <a:rPr b="0" i="0" dirty="0" err="1">
                <a:solidFill>
                  <a:srgbClr val="111111"/>
                </a:solidFill>
              </a:rPr>
              <a:t>mo</a:t>
            </a:r>
            <a:r>
              <a:rPr b="0" i="0" dirty="0">
                <a:solidFill>
                  <a:srgbClr val="111111"/>
                </a:solidFill>
              </a:rPr>
              <a:t> VPS
or govt NIC servers</a:t>
            </a:r>
            <a:endParaRPr sz="900" b="0" i="0" dirty="0">
              <a:solidFill>
                <a:srgbClr val="11111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1D7A3E-7D30-2C81-AB2E-367DD32BB317}"/>
              </a:ext>
            </a:extLst>
          </p:cNvPr>
          <p:cNvSpPr txBox="1"/>
          <p:nvPr/>
        </p:nvSpPr>
        <p:spPr>
          <a:xfrm>
            <a:off x="1532369" y="7681538"/>
            <a:ext cx="2103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111"/>
                </a:solidFill>
              </a:rPr>
              <a:t>Handles concurrent
district-level users</a:t>
            </a:r>
            <a:endParaRPr sz="900" b="0" i="0" dirty="0">
              <a:solidFill>
                <a:srgbClr val="11111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3DE0E-DAB4-1663-1F2C-C523085A096F}"/>
              </a:ext>
            </a:extLst>
          </p:cNvPr>
          <p:cNvSpPr txBox="1"/>
          <p:nvPr/>
        </p:nvSpPr>
        <p:spPr>
          <a:xfrm>
            <a:off x="1532369" y="6001409"/>
            <a:ext cx="2103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111"/>
                </a:solidFill>
              </a:rPr>
              <a:t>Real-time via
Socket.IO</a:t>
            </a:r>
            <a:endParaRPr sz="900" b="0" i="0" dirty="0">
              <a:solidFill>
                <a:srgbClr val="11111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3889A2-9A64-C5F2-4B13-DEFDF95CBE1A}"/>
              </a:ext>
            </a:extLst>
          </p:cNvPr>
          <p:cNvSpPr/>
          <p:nvPr/>
        </p:nvSpPr>
        <p:spPr>
          <a:xfrm>
            <a:off x="1163158" y="2247897"/>
            <a:ext cx="56042" cy="1393445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175278-6E60-1DD0-E0D6-19B2C4D13C9A}"/>
              </a:ext>
            </a:extLst>
          </p:cNvPr>
          <p:cNvSpPr/>
          <p:nvPr/>
        </p:nvSpPr>
        <p:spPr>
          <a:xfrm>
            <a:off x="1163158" y="4014349"/>
            <a:ext cx="56042" cy="1393445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38393D-019C-1408-48D5-E9FFE95A8AC8}"/>
              </a:ext>
            </a:extLst>
          </p:cNvPr>
          <p:cNvSpPr/>
          <p:nvPr/>
        </p:nvSpPr>
        <p:spPr>
          <a:xfrm flipH="1">
            <a:off x="1163157" y="5767228"/>
            <a:ext cx="56041" cy="1393445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C41355-970C-61D8-3800-9362EA612F81}"/>
              </a:ext>
            </a:extLst>
          </p:cNvPr>
          <p:cNvSpPr/>
          <p:nvPr/>
        </p:nvSpPr>
        <p:spPr>
          <a:xfrm>
            <a:off x="1160454" y="7447952"/>
            <a:ext cx="56041" cy="1393445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1"/>
            <a:ext cx="18288001" cy="10287000"/>
          </a:xfrm>
          <a:custGeom>
            <a:avLst/>
            <a:gdLst/>
            <a:ahLst/>
            <a:cxnLst/>
            <a:rect l="l" t="t" r="r" b="b"/>
            <a:pathLst>
              <a:path w="20238818" h="13484113">
                <a:moveTo>
                  <a:pt x="0" y="0"/>
                </a:moveTo>
                <a:lnTo>
                  <a:pt x="20238818" y="0"/>
                </a:lnTo>
                <a:lnTo>
                  <a:pt x="20238818" y="13484113"/>
                </a:lnTo>
                <a:lnTo>
                  <a:pt x="0" y="13484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06256" y="1132308"/>
            <a:ext cx="17875488" cy="8754177"/>
            <a:chOff x="0" y="0"/>
            <a:chExt cx="2789895" cy="13662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89895" cy="1366297"/>
            </a:xfrm>
            <a:custGeom>
              <a:avLst/>
              <a:gdLst/>
              <a:ahLst/>
              <a:cxnLst/>
              <a:rect l="l" t="t" r="r" b="b"/>
              <a:pathLst>
                <a:path w="2789895" h="1366297">
                  <a:moveTo>
                    <a:pt x="14292" y="0"/>
                  </a:moveTo>
                  <a:lnTo>
                    <a:pt x="2775602" y="0"/>
                  </a:lnTo>
                  <a:cubicBezTo>
                    <a:pt x="2783496" y="0"/>
                    <a:pt x="2789895" y="6399"/>
                    <a:pt x="2789895" y="14292"/>
                  </a:cubicBezTo>
                  <a:lnTo>
                    <a:pt x="2789895" y="1352005"/>
                  </a:lnTo>
                  <a:cubicBezTo>
                    <a:pt x="2789895" y="1359898"/>
                    <a:pt x="2783496" y="1366297"/>
                    <a:pt x="2775602" y="1366297"/>
                  </a:cubicBezTo>
                  <a:lnTo>
                    <a:pt x="14292" y="1366297"/>
                  </a:lnTo>
                  <a:cubicBezTo>
                    <a:pt x="10502" y="1366297"/>
                    <a:pt x="6866" y="1364792"/>
                    <a:pt x="4186" y="1362111"/>
                  </a:cubicBezTo>
                  <a:cubicBezTo>
                    <a:pt x="1506" y="1359431"/>
                    <a:pt x="0" y="1355796"/>
                    <a:pt x="0" y="1352005"/>
                  </a:cubicBezTo>
                  <a:lnTo>
                    <a:pt x="0" y="14292"/>
                  </a:lnTo>
                  <a:cubicBezTo>
                    <a:pt x="0" y="10502"/>
                    <a:pt x="1506" y="6866"/>
                    <a:pt x="4186" y="4186"/>
                  </a:cubicBezTo>
                  <a:cubicBezTo>
                    <a:pt x="6866" y="1506"/>
                    <a:pt x="10502" y="0"/>
                    <a:pt x="14292" y="0"/>
                  </a:cubicBezTo>
                  <a:close/>
                </a:path>
              </a:pathLst>
            </a:custGeom>
            <a:solidFill>
              <a:srgbClr val="F8FBF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89895" cy="1404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96297" y="292778"/>
            <a:ext cx="4265444" cy="569409"/>
          </a:xfrm>
          <a:custGeom>
            <a:avLst/>
            <a:gdLst/>
            <a:ahLst/>
            <a:cxnLst/>
            <a:rect l="l" t="t" r="r" b="b"/>
            <a:pathLst>
              <a:path w="4265444" h="569409">
                <a:moveTo>
                  <a:pt x="0" y="0"/>
                </a:moveTo>
                <a:lnTo>
                  <a:pt x="4265443" y="0"/>
                </a:lnTo>
                <a:lnTo>
                  <a:pt x="4265443" y="569409"/>
                </a:lnTo>
                <a:lnTo>
                  <a:pt x="0" y="569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20763" b="-328336"/>
            </a:stretch>
          </a:blipFill>
        </p:spPr>
      </p:sp>
      <p:grpSp>
        <p:nvGrpSpPr>
          <p:cNvPr id="20" name="Group 9"/>
          <p:cNvGrpSpPr/>
          <p:nvPr/>
        </p:nvGrpSpPr>
        <p:grpSpPr>
          <a:xfrm>
            <a:off x="13318339" y="292778"/>
            <a:ext cx="4668409" cy="436965"/>
            <a:chOff x="0" y="0"/>
            <a:chExt cx="6224546" cy="582620"/>
          </a:xfrm>
        </p:grpSpPr>
        <p:sp>
          <p:nvSpPr>
            <p:cNvPr id="21" name="Freeform 10"/>
            <p:cNvSpPr/>
            <p:nvPr/>
          </p:nvSpPr>
          <p:spPr>
            <a:xfrm>
              <a:off x="1820252" y="18024"/>
              <a:ext cx="359721" cy="546572"/>
            </a:xfrm>
            <a:custGeom>
              <a:avLst/>
              <a:gdLst/>
              <a:ahLst/>
              <a:cxnLst/>
              <a:rect l="l" t="t" r="r" b="b"/>
              <a:pathLst>
                <a:path w="359721" h="546572">
                  <a:moveTo>
                    <a:pt x="0" y="0"/>
                  </a:moveTo>
                  <a:lnTo>
                    <a:pt x="359721" y="0"/>
                  </a:lnTo>
                  <a:lnTo>
                    <a:pt x="359721" y="546572"/>
                  </a:lnTo>
                  <a:lnTo>
                    <a:pt x="0" y="54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0422"/>
              </a:stretch>
            </a:blipFill>
          </p:spPr>
        </p:sp>
        <p:sp>
          <p:nvSpPr>
            <p:cNvPr id="22" name="Freeform 11"/>
            <p:cNvSpPr/>
            <p:nvPr/>
          </p:nvSpPr>
          <p:spPr>
            <a:xfrm>
              <a:off x="2596062" y="25274"/>
              <a:ext cx="538648" cy="539322"/>
            </a:xfrm>
            <a:custGeom>
              <a:avLst/>
              <a:gdLst/>
              <a:ahLst/>
              <a:cxnLst/>
              <a:rect l="l" t="t" r="r" b="b"/>
              <a:pathLst>
                <a:path w="538648" h="539322">
                  <a:moveTo>
                    <a:pt x="0" y="0"/>
                  </a:moveTo>
                  <a:lnTo>
                    <a:pt x="538647" y="0"/>
                  </a:lnTo>
                  <a:lnTo>
                    <a:pt x="538647" y="539322"/>
                  </a:lnTo>
                  <a:lnTo>
                    <a:pt x="0" y="53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23" name="Freeform 12"/>
            <p:cNvSpPr/>
            <p:nvPr/>
          </p:nvSpPr>
          <p:spPr>
            <a:xfrm>
              <a:off x="5010245" y="25274"/>
              <a:ext cx="1214301" cy="475095"/>
            </a:xfrm>
            <a:custGeom>
              <a:avLst/>
              <a:gdLst/>
              <a:ahLst/>
              <a:cxnLst/>
              <a:rect l="l" t="t" r="r" b="b"/>
              <a:pathLst>
                <a:path w="1214301" h="475095">
                  <a:moveTo>
                    <a:pt x="0" y="0"/>
                  </a:moveTo>
                  <a:lnTo>
                    <a:pt x="1214301" y="0"/>
                  </a:lnTo>
                  <a:lnTo>
                    <a:pt x="1214301" y="475095"/>
                  </a:lnTo>
                  <a:lnTo>
                    <a:pt x="0" y="475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4" name="Freeform 13"/>
            <p:cNvSpPr/>
            <p:nvPr/>
          </p:nvSpPr>
          <p:spPr>
            <a:xfrm>
              <a:off x="0" y="0"/>
              <a:ext cx="1520834" cy="582620"/>
            </a:xfrm>
            <a:custGeom>
              <a:avLst/>
              <a:gdLst/>
              <a:ahLst/>
              <a:cxnLst/>
              <a:rect l="l" t="t" r="r" b="b"/>
              <a:pathLst>
                <a:path w="1520834" h="582620">
                  <a:moveTo>
                    <a:pt x="0" y="0"/>
                  </a:moveTo>
                  <a:lnTo>
                    <a:pt x="1520834" y="0"/>
                  </a:lnTo>
                  <a:lnTo>
                    <a:pt x="1520834" y="582620"/>
                  </a:lnTo>
                  <a:lnTo>
                    <a:pt x="0" y="582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80788" b="-80244"/>
              </a:stretch>
            </a:blipFill>
          </p:spPr>
        </p:sp>
        <p:sp>
          <p:nvSpPr>
            <p:cNvPr id="25" name="Freeform 14"/>
            <p:cNvSpPr/>
            <p:nvPr/>
          </p:nvSpPr>
          <p:spPr>
            <a:xfrm>
              <a:off x="3394263" y="14122"/>
              <a:ext cx="1395776" cy="561627"/>
            </a:xfrm>
            <a:custGeom>
              <a:avLst/>
              <a:gdLst/>
              <a:ahLst/>
              <a:cxnLst/>
              <a:rect l="l" t="t" r="r" b="b"/>
              <a:pathLst>
                <a:path w="1395776" h="561627">
                  <a:moveTo>
                    <a:pt x="0" y="0"/>
                  </a:moveTo>
                  <a:lnTo>
                    <a:pt x="1395776" y="0"/>
                  </a:lnTo>
                  <a:lnTo>
                    <a:pt x="1395776" y="561626"/>
                  </a:lnTo>
                  <a:lnTo>
                    <a:pt x="0" y="561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73994" b="-74529"/>
              </a:stretch>
            </a:blipFill>
          </p:spPr>
        </p:sp>
        <p:sp>
          <p:nvSpPr>
            <p:cNvPr id="26" name="AutoShape 15"/>
            <p:cNvSpPr/>
            <p:nvPr/>
          </p:nvSpPr>
          <p:spPr>
            <a:xfrm flipV="1">
              <a:off x="1577762" y="40304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16"/>
            <p:cNvSpPr/>
            <p:nvPr/>
          </p:nvSpPr>
          <p:spPr>
            <a:xfrm flipV="1">
              <a:off x="2437300" y="46327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17"/>
            <p:cNvSpPr/>
            <p:nvPr/>
          </p:nvSpPr>
          <p:spPr>
            <a:xfrm flipV="1">
              <a:off x="4804191" y="24874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18"/>
            <p:cNvSpPr/>
            <p:nvPr/>
          </p:nvSpPr>
          <p:spPr>
            <a:xfrm flipV="1">
              <a:off x="3351775" y="46327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0" name="Freeform 7"/>
          <p:cNvSpPr/>
          <p:nvPr/>
        </p:nvSpPr>
        <p:spPr>
          <a:xfrm>
            <a:off x="7391400" y="288797"/>
            <a:ext cx="3994743" cy="519317"/>
          </a:xfrm>
          <a:custGeom>
            <a:avLst/>
            <a:gdLst/>
            <a:ahLst/>
            <a:cxnLst/>
            <a:rect l="l" t="t" r="r" b="b"/>
            <a:pathLst>
              <a:path w="4437093" h="576822">
                <a:moveTo>
                  <a:pt x="0" y="0"/>
                </a:moveTo>
                <a:lnTo>
                  <a:pt x="4437092" y="0"/>
                </a:lnTo>
                <a:lnTo>
                  <a:pt x="4437092" y="576822"/>
                </a:lnTo>
                <a:lnTo>
                  <a:pt x="0" y="5768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pic>
        <p:nvPicPr>
          <p:cNvPr id="7" name="Picture 6" descr="system_architecture_1774023999560.png">
            <a:extLst>
              <a:ext uri="{FF2B5EF4-FFF2-40B4-BE49-F238E27FC236}">
                <a16:creationId xmlns:a16="http://schemas.microsoft.com/office/drawing/2014/main" id="{BC64BE90-2661-0D71-0847-A3B0C63577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635" y="1798320"/>
            <a:ext cx="9385566" cy="6316980"/>
          </a:xfrm>
          <a:prstGeom prst="rect">
            <a:avLst/>
          </a:prstGeom>
        </p:spPr>
      </p:pic>
      <p:pic>
        <p:nvPicPr>
          <p:cNvPr id="9" name="Picture 8" descr="data_flow_diagram_1774024013712.png">
            <a:extLst>
              <a:ext uri="{FF2B5EF4-FFF2-40B4-BE49-F238E27FC236}">
                <a16:creationId xmlns:a16="http://schemas.microsoft.com/office/drawing/2014/main" id="{4F467AE8-1B5A-4D70-3994-93E3A20A0B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66578" y="1798320"/>
            <a:ext cx="7046258" cy="2735580"/>
          </a:xfrm>
          <a:prstGeom prst="rect">
            <a:avLst/>
          </a:prstGeom>
        </p:spPr>
      </p:pic>
      <p:pic>
        <p:nvPicPr>
          <p:cNvPr id="10" name="Picture 9" descr="beneficiary_table_wireframe_1774024114173.png">
            <a:extLst>
              <a:ext uri="{FF2B5EF4-FFF2-40B4-BE49-F238E27FC236}">
                <a16:creationId xmlns:a16="http://schemas.microsoft.com/office/drawing/2014/main" id="{CE496678-5DC8-7306-84BF-6967CD2F6A0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02968" y="4778014"/>
            <a:ext cx="7109868" cy="333728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A3624E9-96D7-838B-D55D-ACF801E960FE}"/>
              </a:ext>
            </a:extLst>
          </p:cNvPr>
          <p:cNvSpPr/>
          <p:nvPr/>
        </p:nvSpPr>
        <p:spPr>
          <a:xfrm>
            <a:off x="2514600" y="8781312"/>
            <a:ext cx="13716000" cy="219580"/>
          </a:xfrm>
          <a:prstGeom prst="rect">
            <a:avLst/>
          </a:prstGeom>
          <a:solidFill>
            <a:srgbClr val="0D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945FDB-BA7E-D17F-2C73-20525B5D7ABE}"/>
              </a:ext>
            </a:extLst>
          </p:cNvPr>
          <p:cNvSpPr txBox="1"/>
          <p:nvPr/>
        </p:nvSpPr>
        <p:spPr>
          <a:xfrm>
            <a:off x="4461741" y="8752602"/>
            <a:ext cx="11612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0C97A"/>
                </a:solidFill>
              </a:rPr>
              <a:t>3-tier architecture: Field Input → Node.js + Socket.IO Backend → React Frontend  |  AI Engine: Anomaly Detection + Forecasting</a:t>
            </a:r>
            <a:endParaRPr sz="800" b="0" i="0" dirty="0">
              <a:solidFill>
                <a:srgbClr val="00C97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1"/>
            <a:ext cx="18288001" cy="10287000"/>
          </a:xfrm>
          <a:custGeom>
            <a:avLst/>
            <a:gdLst/>
            <a:ahLst/>
            <a:cxnLst/>
            <a:rect l="l" t="t" r="r" b="b"/>
            <a:pathLst>
              <a:path w="20238818" h="13484113">
                <a:moveTo>
                  <a:pt x="0" y="0"/>
                </a:moveTo>
                <a:lnTo>
                  <a:pt x="20238818" y="0"/>
                </a:lnTo>
                <a:lnTo>
                  <a:pt x="20238818" y="13484113"/>
                </a:lnTo>
                <a:lnTo>
                  <a:pt x="0" y="13484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06256" y="1132308"/>
            <a:ext cx="17875488" cy="8754177"/>
            <a:chOff x="0" y="0"/>
            <a:chExt cx="2789895" cy="13662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89895" cy="1366297"/>
            </a:xfrm>
            <a:custGeom>
              <a:avLst/>
              <a:gdLst/>
              <a:ahLst/>
              <a:cxnLst/>
              <a:rect l="l" t="t" r="r" b="b"/>
              <a:pathLst>
                <a:path w="2789895" h="1366297">
                  <a:moveTo>
                    <a:pt x="14292" y="0"/>
                  </a:moveTo>
                  <a:lnTo>
                    <a:pt x="2775602" y="0"/>
                  </a:lnTo>
                  <a:cubicBezTo>
                    <a:pt x="2783496" y="0"/>
                    <a:pt x="2789895" y="6399"/>
                    <a:pt x="2789895" y="14292"/>
                  </a:cubicBezTo>
                  <a:lnTo>
                    <a:pt x="2789895" y="1352005"/>
                  </a:lnTo>
                  <a:cubicBezTo>
                    <a:pt x="2789895" y="1359898"/>
                    <a:pt x="2783496" y="1366297"/>
                    <a:pt x="2775602" y="1366297"/>
                  </a:cubicBezTo>
                  <a:lnTo>
                    <a:pt x="14292" y="1366297"/>
                  </a:lnTo>
                  <a:cubicBezTo>
                    <a:pt x="10502" y="1366297"/>
                    <a:pt x="6866" y="1364792"/>
                    <a:pt x="4186" y="1362111"/>
                  </a:cubicBezTo>
                  <a:cubicBezTo>
                    <a:pt x="1506" y="1359431"/>
                    <a:pt x="0" y="1355796"/>
                    <a:pt x="0" y="1352005"/>
                  </a:cubicBezTo>
                  <a:lnTo>
                    <a:pt x="0" y="14292"/>
                  </a:lnTo>
                  <a:cubicBezTo>
                    <a:pt x="0" y="10502"/>
                    <a:pt x="1506" y="6866"/>
                    <a:pt x="4186" y="4186"/>
                  </a:cubicBezTo>
                  <a:cubicBezTo>
                    <a:pt x="6866" y="1506"/>
                    <a:pt x="10502" y="0"/>
                    <a:pt x="14292" y="0"/>
                  </a:cubicBezTo>
                  <a:close/>
                </a:path>
              </a:pathLst>
            </a:custGeom>
            <a:solidFill>
              <a:srgbClr val="F8FBF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89895" cy="1404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96297" y="292778"/>
            <a:ext cx="4265444" cy="569409"/>
          </a:xfrm>
          <a:custGeom>
            <a:avLst/>
            <a:gdLst/>
            <a:ahLst/>
            <a:cxnLst/>
            <a:rect l="l" t="t" r="r" b="b"/>
            <a:pathLst>
              <a:path w="4265444" h="569409">
                <a:moveTo>
                  <a:pt x="0" y="0"/>
                </a:moveTo>
                <a:lnTo>
                  <a:pt x="4265443" y="0"/>
                </a:lnTo>
                <a:lnTo>
                  <a:pt x="4265443" y="569409"/>
                </a:lnTo>
                <a:lnTo>
                  <a:pt x="0" y="569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20763" b="-328336"/>
            </a:stretch>
          </a:blipFill>
        </p:spPr>
      </p:sp>
      <p:grpSp>
        <p:nvGrpSpPr>
          <p:cNvPr id="19" name="Group 9"/>
          <p:cNvGrpSpPr/>
          <p:nvPr/>
        </p:nvGrpSpPr>
        <p:grpSpPr>
          <a:xfrm>
            <a:off x="13318339" y="292778"/>
            <a:ext cx="4668409" cy="436965"/>
            <a:chOff x="0" y="0"/>
            <a:chExt cx="6224546" cy="582620"/>
          </a:xfrm>
        </p:grpSpPr>
        <p:sp>
          <p:nvSpPr>
            <p:cNvPr id="20" name="Freeform 10"/>
            <p:cNvSpPr/>
            <p:nvPr/>
          </p:nvSpPr>
          <p:spPr>
            <a:xfrm>
              <a:off x="1820252" y="18024"/>
              <a:ext cx="359721" cy="546572"/>
            </a:xfrm>
            <a:custGeom>
              <a:avLst/>
              <a:gdLst/>
              <a:ahLst/>
              <a:cxnLst/>
              <a:rect l="l" t="t" r="r" b="b"/>
              <a:pathLst>
                <a:path w="359721" h="546572">
                  <a:moveTo>
                    <a:pt x="0" y="0"/>
                  </a:moveTo>
                  <a:lnTo>
                    <a:pt x="359721" y="0"/>
                  </a:lnTo>
                  <a:lnTo>
                    <a:pt x="359721" y="546572"/>
                  </a:lnTo>
                  <a:lnTo>
                    <a:pt x="0" y="54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0422"/>
              </a:stretch>
            </a:blipFill>
          </p:spPr>
        </p:sp>
        <p:sp>
          <p:nvSpPr>
            <p:cNvPr id="21" name="Freeform 11"/>
            <p:cNvSpPr/>
            <p:nvPr/>
          </p:nvSpPr>
          <p:spPr>
            <a:xfrm>
              <a:off x="2596062" y="25274"/>
              <a:ext cx="538648" cy="539322"/>
            </a:xfrm>
            <a:custGeom>
              <a:avLst/>
              <a:gdLst/>
              <a:ahLst/>
              <a:cxnLst/>
              <a:rect l="l" t="t" r="r" b="b"/>
              <a:pathLst>
                <a:path w="538648" h="539322">
                  <a:moveTo>
                    <a:pt x="0" y="0"/>
                  </a:moveTo>
                  <a:lnTo>
                    <a:pt x="538647" y="0"/>
                  </a:lnTo>
                  <a:lnTo>
                    <a:pt x="538647" y="539322"/>
                  </a:lnTo>
                  <a:lnTo>
                    <a:pt x="0" y="53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22" name="Freeform 12"/>
            <p:cNvSpPr/>
            <p:nvPr/>
          </p:nvSpPr>
          <p:spPr>
            <a:xfrm>
              <a:off x="5010245" y="25274"/>
              <a:ext cx="1214301" cy="475095"/>
            </a:xfrm>
            <a:custGeom>
              <a:avLst/>
              <a:gdLst/>
              <a:ahLst/>
              <a:cxnLst/>
              <a:rect l="l" t="t" r="r" b="b"/>
              <a:pathLst>
                <a:path w="1214301" h="475095">
                  <a:moveTo>
                    <a:pt x="0" y="0"/>
                  </a:moveTo>
                  <a:lnTo>
                    <a:pt x="1214301" y="0"/>
                  </a:lnTo>
                  <a:lnTo>
                    <a:pt x="1214301" y="475095"/>
                  </a:lnTo>
                  <a:lnTo>
                    <a:pt x="0" y="475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3" name="Freeform 13"/>
            <p:cNvSpPr/>
            <p:nvPr/>
          </p:nvSpPr>
          <p:spPr>
            <a:xfrm>
              <a:off x="0" y="0"/>
              <a:ext cx="1520834" cy="582620"/>
            </a:xfrm>
            <a:custGeom>
              <a:avLst/>
              <a:gdLst/>
              <a:ahLst/>
              <a:cxnLst/>
              <a:rect l="l" t="t" r="r" b="b"/>
              <a:pathLst>
                <a:path w="1520834" h="582620">
                  <a:moveTo>
                    <a:pt x="0" y="0"/>
                  </a:moveTo>
                  <a:lnTo>
                    <a:pt x="1520834" y="0"/>
                  </a:lnTo>
                  <a:lnTo>
                    <a:pt x="1520834" y="582620"/>
                  </a:lnTo>
                  <a:lnTo>
                    <a:pt x="0" y="582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80788" b="-80244"/>
              </a:stretch>
            </a:blipFill>
          </p:spPr>
        </p:sp>
        <p:sp>
          <p:nvSpPr>
            <p:cNvPr id="24" name="Freeform 14"/>
            <p:cNvSpPr/>
            <p:nvPr/>
          </p:nvSpPr>
          <p:spPr>
            <a:xfrm>
              <a:off x="3394263" y="14122"/>
              <a:ext cx="1395776" cy="561627"/>
            </a:xfrm>
            <a:custGeom>
              <a:avLst/>
              <a:gdLst/>
              <a:ahLst/>
              <a:cxnLst/>
              <a:rect l="l" t="t" r="r" b="b"/>
              <a:pathLst>
                <a:path w="1395776" h="561627">
                  <a:moveTo>
                    <a:pt x="0" y="0"/>
                  </a:moveTo>
                  <a:lnTo>
                    <a:pt x="1395776" y="0"/>
                  </a:lnTo>
                  <a:lnTo>
                    <a:pt x="1395776" y="561626"/>
                  </a:lnTo>
                  <a:lnTo>
                    <a:pt x="0" y="561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73994" b="-74529"/>
              </a:stretch>
            </a:blipFill>
          </p:spPr>
        </p:sp>
        <p:sp>
          <p:nvSpPr>
            <p:cNvPr id="25" name="AutoShape 15"/>
            <p:cNvSpPr/>
            <p:nvPr/>
          </p:nvSpPr>
          <p:spPr>
            <a:xfrm flipV="1">
              <a:off x="1577762" y="40304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AutoShape 16"/>
            <p:cNvSpPr/>
            <p:nvPr/>
          </p:nvSpPr>
          <p:spPr>
            <a:xfrm flipV="1">
              <a:off x="2437300" y="46327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17"/>
            <p:cNvSpPr/>
            <p:nvPr/>
          </p:nvSpPr>
          <p:spPr>
            <a:xfrm flipV="1">
              <a:off x="4804191" y="24874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18"/>
            <p:cNvSpPr/>
            <p:nvPr/>
          </p:nvSpPr>
          <p:spPr>
            <a:xfrm flipV="1">
              <a:off x="3351775" y="46327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9" name="Freeform 7"/>
          <p:cNvSpPr/>
          <p:nvPr/>
        </p:nvSpPr>
        <p:spPr>
          <a:xfrm>
            <a:off x="7391400" y="288797"/>
            <a:ext cx="3994743" cy="519317"/>
          </a:xfrm>
          <a:custGeom>
            <a:avLst/>
            <a:gdLst/>
            <a:ahLst/>
            <a:cxnLst/>
            <a:rect l="l" t="t" r="r" b="b"/>
            <a:pathLst>
              <a:path w="4437093" h="576822">
                <a:moveTo>
                  <a:pt x="0" y="0"/>
                </a:moveTo>
                <a:lnTo>
                  <a:pt x="4437092" y="0"/>
                </a:lnTo>
                <a:lnTo>
                  <a:pt x="4437092" y="576822"/>
                </a:lnTo>
                <a:lnTo>
                  <a:pt x="0" y="5768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pic>
        <p:nvPicPr>
          <p:cNvPr id="7" name="Picture 6" descr="impact_infographic_1774024052039.png">
            <a:extLst>
              <a:ext uri="{FF2B5EF4-FFF2-40B4-BE49-F238E27FC236}">
                <a16:creationId xmlns:a16="http://schemas.microsoft.com/office/drawing/2014/main" id="{A8B50007-F6F9-83E4-CA30-1C833B3D07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592" y="1939029"/>
            <a:ext cx="9075613" cy="57952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1745CF-3DD3-5BA5-C6EA-60F382859374}"/>
              </a:ext>
            </a:extLst>
          </p:cNvPr>
          <p:cNvSpPr txBox="1"/>
          <p:nvPr/>
        </p:nvSpPr>
        <p:spPr>
          <a:xfrm>
            <a:off x="1295400" y="1565551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D3D22"/>
                </a:solidFill>
              </a:rPr>
              <a:t>IMPACT — TECH FOR COMMUNITY</a:t>
            </a:r>
            <a:endParaRPr sz="1400" b="1" i="0" dirty="0">
              <a:solidFill>
                <a:srgbClr val="0D3D2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B2E056-A93E-8D22-A93A-0D3F191AA905}"/>
              </a:ext>
            </a:extLst>
          </p:cNvPr>
          <p:cNvSpPr/>
          <p:nvPr/>
        </p:nvSpPr>
        <p:spPr>
          <a:xfrm>
            <a:off x="11077568" y="1892099"/>
            <a:ext cx="5686431" cy="11117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04D6CD-1EB6-0A06-4DCA-52788014B1A4}"/>
              </a:ext>
            </a:extLst>
          </p:cNvPr>
          <p:cNvSpPr/>
          <p:nvPr/>
        </p:nvSpPr>
        <p:spPr>
          <a:xfrm>
            <a:off x="11090078" y="3411961"/>
            <a:ext cx="5686431" cy="11117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FE0AE0-E1E5-FD1D-CA4F-BCFF8504A7F9}"/>
              </a:ext>
            </a:extLst>
          </p:cNvPr>
          <p:cNvSpPr/>
          <p:nvPr/>
        </p:nvSpPr>
        <p:spPr>
          <a:xfrm>
            <a:off x="11077567" y="4931823"/>
            <a:ext cx="5686431" cy="11117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A55635-AF7A-A846-8BC5-0DC97CDB0479}"/>
              </a:ext>
            </a:extLst>
          </p:cNvPr>
          <p:cNvSpPr/>
          <p:nvPr/>
        </p:nvSpPr>
        <p:spPr>
          <a:xfrm>
            <a:off x="11090079" y="6451684"/>
            <a:ext cx="5686429" cy="11117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5463F6-04F9-F80C-01BF-3861A0DDFA80}"/>
              </a:ext>
            </a:extLst>
          </p:cNvPr>
          <p:cNvSpPr/>
          <p:nvPr/>
        </p:nvSpPr>
        <p:spPr>
          <a:xfrm>
            <a:off x="11077567" y="1892099"/>
            <a:ext cx="45719" cy="1111273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337731-A0B0-E0BE-D2FA-009674FD3D6D}"/>
              </a:ext>
            </a:extLst>
          </p:cNvPr>
          <p:cNvSpPr/>
          <p:nvPr/>
        </p:nvSpPr>
        <p:spPr>
          <a:xfrm>
            <a:off x="11085624" y="3414954"/>
            <a:ext cx="45719" cy="1111273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E195BE-3C06-2AE9-934E-B2C88343CE18}"/>
              </a:ext>
            </a:extLst>
          </p:cNvPr>
          <p:cNvSpPr/>
          <p:nvPr/>
        </p:nvSpPr>
        <p:spPr>
          <a:xfrm>
            <a:off x="11077566" y="4932408"/>
            <a:ext cx="45719" cy="1111273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344C34-3D22-3B71-D473-7531843FD399}"/>
              </a:ext>
            </a:extLst>
          </p:cNvPr>
          <p:cNvSpPr/>
          <p:nvPr/>
        </p:nvSpPr>
        <p:spPr>
          <a:xfrm>
            <a:off x="11085624" y="6452140"/>
            <a:ext cx="45719" cy="1111273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D58729-F3C0-E97E-2E88-40B45BA7F1E2}"/>
              </a:ext>
            </a:extLst>
          </p:cNvPr>
          <p:cNvSpPr txBox="1"/>
          <p:nvPr/>
        </p:nvSpPr>
        <p:spPr>
          <a:xfrm>
            <a:off x="11214394" y="1965661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3D22"/>
                </a:solidFill>
              </a:rPr>
              <a:t>👨‍🌾  5.8L+ Farmers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943034-A663-6966-470F-371F605EA970}"/>
              </a:ext>
            </a:extLst>
          </p:cNvPr>
          <p:cNvSpPr txBox="1"/>
          <p:nvPr/>
        </p:nvSpPr>
        <p:spPr>
          <a:xfrm>
            <a:off x="11214394" y="2369860"/>
            <a:ext cx="3931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11111"/>
                </a:solidFill>
              </a:rPr>
              <a:t>Faster verified fund access — months → days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E99647-EC0D-50FC-72A0-71508900AFA3}"/>
              </a:ext>
            </a:extLst>
          </p:cNvPr>
          <p:cNvSpPr txBox="1"/>
          <p:nvPr/>
        </p:nvSpPr>
        <p:spPr>
          <a:xfrm>
            <a:off x="11214394" y="3515701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3D22"/>
                </a:solidFill>
              </a:rPr>
              <a:t>🏛️  13 District Admins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A139FE-FD28-8A3C-3935-598722F2E8A9}"/>
              </a:ext>
            </a:extLst>
          </p:cNvPr>
          <p:cNvSpPr txBox="1"/>
          <p:nvPr/>
        </p:nvSpPr>
        <p:spPr>
          <a:xfrm>
            <a:off x="11229634" y="3920076"/>
            <a:ext cx="3931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11111"/>
                </a:solidFill>
              </a:rPr>
              <a:t>Single dashboard replaces manual reports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D78DF3-1610-19BC-4585-71F9F2D2FEF6}"/>
              </a:ext>
            </a:extLst>
          </p:cNvPr>
          <p:cNvSpPr txBox="1"/>
          <p:nvPr/>
        </p:nvSpPr>
        <p:spPr>
          <a:xfrm>
            <a:off x="11214394" y="5031806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3D22"/>
                </a:solidFill>
              </a:rPr>
              <a:t>📈  State Policymakers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C8B20A-9D35-FA1C-A9AB-BA55527657E7}"/>
              </a:ext>
            </a:extLst>
          </p:cNvPr>
          <p:cNvSpPr txBox="1"/>
          <p:nvPr/>
        </p:nvSpPr>
        <p:spPr>
          <a:xfrm>
            <a:off x="11229634" y="5487688"/>
            <a:ext cx="3931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11111"/>
                </a:solidFill>
              </a:rPr>
              <a:t>Compare all districts, reallocate proactively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473197-1B70-3EB8-C8C3-8E8BC10E223E}"/>
              </a:ext>
            </a:extLst>
          </p:cNvPr>
          <p:cNvSpPr txBox="1"/>
          <p:nvPr/>
        </p:nvSpPr>
        <p:spPr>
          <a:xfrm>
            <a:off x="11214394" y="6566398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3D22"/>
                </a:solidFill>
              </a:rPr>
              <a:t>🌱  Agriculture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90E04C-AEF5-CFDC-76DF-C0F823EACCD2}"/>
              </a:ext>
            </a:extLst>
          </p:cNvPr>
          <p:cNvSpPr txBox="1"/>
          <p:nvPr/>
        </p:nvSpPr>
        <p:spPr>
          <a:xfrm>
            <a:off x="11229634" y="7021931"/>
            <a:ext cx="3931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11111"/>
                </a:solidFill>
              </a:rPr>
              <a:t>Better seeds &amp; irrigation from timely fund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1"/>
            <a:ext cx="18288001" cy="10287000"/>
          </a:xfrm>
          <a:custGeom>
            <a:avLst/>
            <a:gdLst/>
            <a:ahLst/>
            <a:cxnLst/>
            <a:rect l="l" t="t" r="r" b="b"/>
            <a:pathLst>
              <a:path w="20238818" h="13484113">
                <a:moveTo>
                  <a:pt x="0" y="0"/>
                </a:moveTo>
                <a:lnTo>
                  <a:pt x="20238818" y="0"/>
                </a:lnTo>
                <a:lnTo>
                  <a:pt x="20238818" y="13484113"/>
                </a:lnTo>
                <a:lnTo>
                  <a:pt x="0" y="13484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06256" y="1132308"/>
            <a:ext cx="17875488" cy="8754177"/>
            <a:chOff x="0" y="0"/>
            <a:chExt cx="2789895" cy="13662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89895" cy="1366297"/>
            </a:xfrm>
            <a:custGeom>
              <a:avLst/>
              <a:gdLst/>
              <a:ahLst/>
              <a:cxnLst/>
              <a:rect l="l" t="t" r="r" b="b"/>
              <a:pathLst>
                <a:path w="2789895" h="1366297">
                  <a:moveTo>
                    <a:pt x="14292" y="0"/>
                  </a:moveTo>
                  <a:lnTo>
                    <a:pt x="2775602" y="0"/>
                  </a:lnTo>
                  <a:cubicBezTo>
                    <a:pt x="2783496" y="0"/>
                    <a:pt x="2789895" y="6399"/>
                    <a:pt x="2789895" y="14292"/>
                  </a:cubicBezTo>
                  <a:lnTo>
                    <a:pt x="2789895" y="1352005"/>
                  </a:lnTo>
                  <a:cubicBezTo>
                    <a:pt x="2789895" y="1359898"/>
                    <a:pt x="2783496" y="1366297"/>
                    <a:pt x="2775602" y="1366297"/>
                  </a:cubicBezTo>
                  <a:lnTo>
                    <a:pt x="14292" y="1366297"/>
                  </a:lnTo>
                  <a:cubicBezTo>
                    <a:pt x="10502" y="1366297"/>
                    <a:pt x="6866" y="1364792"/>
                    <a:pt x="4186" y="1362111"/>
                  </a:cubicBezTo>
                  <a:cubicBezTo>
                    <a:pt x="1506" y="1359431"/>
                    <a:pt x="0" y="1355796"/>
                    <a:pt x="0" y="1352005"/>
                  </a:cubicBezTo>
                  <a:lnTo>
                    <a:pt x="0" y="14292"/>
                  </a:lnTo>
                  <a:cubicBezTo>
                    <a:pt x="0" y="10502"/>
                    <a:pt x="1506" y="6866"/>
                    <a:pt x="4186" y="4186"/>
                  </a:cubicBezTo>
                  <a:cubicBezTo>
                    <a:pt x="6866" y="1506"/>
                    <a:pt x="10502" y="0"/>
                    <a:pt x="14292" y="0"/>
                  </a:cubicBezTo>
                  <a:close/>
                </a:path>
              </a:pathLst>
            </a:custGeom>
            <a:solidFill>
              <a:srgbClr val="F8FBF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89895" cy="1404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96297" y="292778"/>
            <a:ext cx="4265444" cy="569409"/>
          </a:xfrm>
          <a:custGeom>
            <a:avLst/>
            <a:gdLst/>
            <a:ahLst/>
            <a:cxnLst/>
            <a:rect l="l" t="t" r="r" b="b"/>
            <a:pathLst>
              <a:path w="4265444" h="569409">
                <a:moveTo>
                  <a:pt x="0" y="0"/>
                </a:moveTo>
                <a:lnTo>
                  <a:pt x="4265443" y="0"/>
                </a:lnTo>
                <a:lnTo>
                  <a:pt x="4265443" y="569409"/>
                </a:lnTo>
                <a:lnTo>
                  <a:pt x="0" y="569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20763" b="-328336"/>
            </a:stretch>
          </a:blipFill>
        </p:spPr>
      </p:sp>
      <p:grpSp>
        <p:nvGrpSpPr>
          <p:cNvPr id="19" name="Group 9"/>
          <p:cNvGrpSpPr/>
          <p:nvPr/>
        </p:nvGrpSpPr>
        <p:grpSpPr>
          <a:xfrm>
            <a:off x="13318339" y="292778"/>
            <a:ext cx="4668409" cy="436965"/>
            <a:chOff x="0" y="0"/>
            <a:chExt cx="6224546" cy="582620"/>
          </a:xfrm>
        </p:grpSpPr>
        <p:sp>
          <p:nvSpPr>
            <p:cNvPr id="20" name="Freeform 10"/>
            <p:cNvSpPr/>
            <p:nvPr/>
          </p:nvSpPr>
          <p:spPr>
            <a:xfrm>
              <a:off x="1820252" y="18024"/>
              <a:ext cx="359721" cy="546572"/>
            </a:xfrm>
            <a:custGeom>
              <a:avLst/>
              <a:gdLst/>
              <a:ahLst/>
              <a:cxnLst/>
              <a:rect l="l" t="t" r="r" b="b"/>
              <a:pathLst>
                <a:path w="359721" h="546572">
                  <a:moveTo>
                    <a:pt x="0" y="0"/>
                  </a:moveTo>
                  <a:lnTo>
                    <a:pt x="359721" y="0"/>
                  </a:lnTo>
                  <a:lnTo>
                    <a:pt x="359721" y="546572"/>
                  </a:lnTo>
                  <a:lnTo>
                    <a:pt x="0" y="54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0422"/>
              </a:stretch>
            </a:blipFill>
          </p:spPr>
        </p:sp>
        <p:sp>
          <p:nvSpPr>
            <p:cNvPr id="21" name="Freeform 11"/>
            <p:cNvSpPr/>
            <p:nvPr/>
          </p:nvSpPr>
          <p:spPr>
            <a:xfrm>
              <a:off x="2596062" y="25274"/>
              <a:ext cx="538648" cy="539322"/>
            </a:xfrm>
            <a:custGeom>
              <a:avLst/>
              <a:gdLst/>
              <a:ahLst/>
              <a:cxnLst/>
              <a:rect l="l" t="t" r="r" b="b"/>
              <a:pathLst>
                <a:path w="538648" h="539322">
                  <a:moveTo>
                    <a:pt x="0" y="0"/>
                  </a:moveTo>
                  <a:lnTo>
                    <a:pt x="538647" y="0"/>
                  </a:lnTo>
                  <a:lnTo>
                    <a:pt x="538647" y="539322"/>
                  </a:lnTo>
                  <a:lnTo>
                    <a:pt x="0" y="53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22" name="Freeform 12"/>
            <p:cNvSpPr/>
            <p:nvPr/>
          </p:nvSpPr>
          <p:spPr>
            <a:xfrm>
              <a:off x="5010245" y="25274"/>
              <a:ext cx="1214301" cy="475095"/>
            </a:xfrm>
            <a:custGeom>
              <a:avLst/>
              <a:gdLst/>
              <a:ahLst/>
              <a:cxnLst/>
              <a:rect l="l" t="t" r="r" b="b"/>
              <a:pathLst>
                <a:path w="1214301" h="475095">
                  <a:moveTo>
                    <a:pt x="0" y="0"/>
                  </a:moveTo>
                  <a:lnTo>
                    <a:pt x="1214301" y="0"/>
                  </a:lnTo>
                  <a:lnTo>
                    <a:pt x="1214301" y="475095"/>
                  </a:lnTo>
                  <a:lnTo>
                    <a:pt x="0" y="475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3" name="Freeform 13"/>
            <p:cNvSpPr/>
            <p:nvPr/>
          </p:nvSpPr>
          <p:spPr>
            <a:xfrm>
              <a:off x="0" y="0"/>
              <a:ext cx="1520834" cy="582620"/>
            </a:xfrm>
            <a:custGeom>
              <a:avLst/>
              <a:gdLst/>
              <a:ahLst/>
              <a:cxnLst/>
              <a:rect l="l" t="t" r="r" b="b"/>
              <a:pathLst>
                <a:path w="1520834" h="582620">
                  <a:moveTo>
                    <a:pt x="0" y="0"/>
                  </a:moveTo>
                  <a:lnTo>
                    <a:pt x="1520834" y="0"/>
                  </a:lnTo>
                  <a:lnTo>
                    <a:pt x="1520834" y="582620"/>
                  </a:lnTo>
                  <a:lnTo>
                    <a:pt x="0" y="582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80788" b="-80244"/>
              </a:stretch>
            </a:blipFill>
          </p:spPr>
        </p:sp>
        <p:sp>
          <p:nvSpPr>
            <p:cNvPr id="24" name="Freeform 14"/>
            <p:cNvSpPr/>
            <p:nvPr/>
          </p:nvSpPr>
          <p:spPr>
            <a:xfrm>
              <a:off x="3394263" y="14122"/>
              <a:ext cx="1395776" cy="561627"/>
            </a:xfrm>
            <a:custGeom>
              <a:avLst/>
              <a:gdLst/>
              <a:ahLst/>
              <a:cxnLst/>
              <a:rect l="l" t="t" r="r" b="b"/>
              <a:pathLst>
                <a:path w="1395776" h="561627">
                  <a:moveTo>
                    <a:pt x="0" y="0"/>
                  </a:moveTo>
                  <a:lnTo>
                    <a:pt x="1395776" y="0"/>
                  </a:lnTo>
                  <a:lnTo>
                    <a:pt x="1395776" y="561626"/>
                  </a:lnTo>
                  <a:lnTo>
                    <a:pt x="0" y="561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73994" b="-74529"/>
              </a:stretch>
            </a:blipFill>
          </p:spPr>
        </p:sp>
        <p:sp>
          <p:nvSpPr>
            <p:cNvPr id="25" name="AutoShape 15"/>
            <p:cNvSpPr/>
            <p:nvPr/>
          </p:nvSpPr>
          <p:spPr>
            <a:xfrm flipV="1">
              <a:off x="1577762" y="40304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AutoShape 16"/>
            <p:cNvSpPr/>
            <p:nvPr/>
          </p:nvSpPr>
          <p:spPr>
            <a:xfrm flipV="1">
              <a:off x="2437300" y="46327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17"/>
            <p:cNvSpPr/>
            <p:nvPr/>
          </p:nvSpPr>
          <p:spPr>
            <a:xfrm flipV="1">
              <a:off x="4804191" y="24874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18"/>
            <p:cNvSpPr/>
            <p:nvPr/>
          </p:nvSpPr>
          <p:spPr>
            <a:xfrm flipV="1">
              <a:off x="3351775" y="46327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9" name="Freeform 7"/>
          <p:cNvSpPr/>
          <p:nvPr/>
        </p:nvSpPr>
        <p:spPr>
          <a:xfrm>
            <a:off x="7391400" y="288797"/>
            <a:ext cx="3994743" cy="519317"/>
          </a:xfrm>
          <a:custGeom>
            <a:avLst/>
            <a:gdLst/>
            <a:ahLst/>
            <a:cxnLst/>
            <a:rect l="l" t="t" r="r" b="b"/>
            <a:pathLst>
              <a:path w="4437093" h="576822">
                <a:moveTo>
                  <a:pt x="0" y="0"/>
                </a:moveTo>
                <a:lnTo>
                  <a:pt x="4437092" y="0"/>
                </a:lnTo>
                <a:lnTo>
                  <a:pt x="4437092" y="576822"/>
                </a:lnTo>
                <a:lnTo>
                  <a:pt x="0" y="5768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pic>
        <p:nvPicPr>
          <p:cNvPr id="10" name="Picture 9" descr="feasibility_comparison_1774024131975.png">
            <a:extLst>
              <a:ext uri="{FF2B5EF4-FFF2-40B4-BE49-F238E27FC236}">
                <a16:creationId xmlns:a16="http://schemas.microsoft.com/office/drawing/2014/main" id="{65A05425-06C4-65A2-709D-BC485BCD0B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976" y="1962918"/>
            <a:ext cx="8992979" cy="69606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FF14184-96D5-3B8A-FB48-1D208631A5B0}"/>
              </a:ext>
            </a:extLst>
          </p:cNvPr>
          <p:cNvSpPr/>
          <p:nvPr/>
        </p:nvSpPr>
        <p:spPr>
          <a:xfrm>
            <a:off x="10210800" y="1962918"/>
            <a:ext cx="5197470" cy="13902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rgbClr val="0D3D2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D3137D-9643-ADC0-69A5-E3088EB1287A}"/>
              </a:ext>
            </a:extLst>
          </p:cNvPr>
          <p:cNvSpPr txBox="1"/>
          <p:nvPr/>
        </p:nvSpPr>
        <p:spPr>
          <a:xfrm>
            <a:off x="10417057" y="2073285"/>
            <a:ext cx="4389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3D22"/>
                </a:solidFill>
              </a:rPr>
              <a:t>🗺️  First GIS-Mapped
PMDDKY Dashboard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186882-49DF-ABC3-5604-080DB3CFB74C}"/>
              </a:ext>
            </a:extLst>
          </p:cNvPr>
          <p:cNvSpPr txBox="1"/>
          <p:nvPr/>
        </p:nvSpPr>
        <p:spPr>
          <a:xfrm>
            <a:off x="10417057" y="2711562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11111"/>
                </a:solidFill>
              </a:rPr>
              <a:t>Choropleth map of Uttarakhand — district-level beneficiary density live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24EBC4-F037-377B-2BC4-F8986DD39848}"/>
              </a:ext>
            </a:extLst>
          </p:cNvPr>
          <p:cNvSpPr/>
          <p:nvPr/>
        </p:nvSpPr>
        <p:spPr>
          <a:xfrm>
            <a:off x="10210800" y="3877493"/>
            <a:ext cx="5197470" cy="13902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BF4B72-E417-BC43-32A1-F3D3C323F3A6}"/>
              </a:ext>
            </a:extLst>
          </p:cNvPr>
          <p:cNvSpPr txBox="1"/>
          <p:nvPr/>
        </p:nvSpPr>
        <p:spPr>
          <a:xfrm>
            <a:off x="10381497" y="3972775"/>
            <a:ext cx="4389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3D22"/>
                </a:solidFill>
              </a:rPr>
              <a:t>🤖  AI Anomaly
Detection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372C6C-2D0C-2867-1A63-8C49933BF96C}"/>
              </a:ext>
            </a:extLst>
          </p:cNvPr>
          <p:cNvSpPr txBox="1"/>
          <p:nvPr/>
        </p:nvSpPr>
        <p:spPr>
          <a:xfrm>
            <a:off x="10381497" y="4602963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11111"/>
                </a:solidFill>
              </a:rPr>
              <a:t>Flags unusual fund spikes or enrollment drops before they become crises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ACBEE6-5218-D4FD-8430-20310B9A7E71}"/>
              </a:ext>
            </a:extLst>
          </p:cNvPr>
          <p:cNvSpPr/>
          <p:nvPr/>
        </p:nvSpPr>
        <p:spPr>
          <a:xfrm>
            <a:off x="10210800" y="5784284"/>
            <a:ext cx="5197470" cy="13902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94C9F9-CA89-550F-91C7-53CF12BACAAF}"/>
              </a:ext>
            </a:extLst>
          </p:cNvPr>
          <p:cNvSpPr txBox="1"/>
          <p:nvPr/>
        </p:nvSpPr>
        <p:spPr>
          <a:xfrm>
            <a:off x="10362280" y="5967461"/>
            <a:ext cx="4389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3D22"/>
                </a:solidFill>
              </a:rPr>
              <a:t>⚡</a:t>
            </a:r>
            <a:r>
              <a:rPr lang="en-US" sz="1600" b="1" i="0" dirty="0">
                <a:solidFill>
                  <a:srgbClr val="0D3D22"/>
                </a:solidFill>
              </a:rPr>
              <a:t> </a:t>
            </a:r>
            <a:r>
              <a:rPr sz="1600" b="1" i="0" dirty="0">
                <a:solidFill>
                  <a:srgbClr val="0D3D22"/>
                </a:solidFill>
              </a:rPr>
              <a:t>Zero-Reload
Real-Time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CF5E83-1BCC-1571-482A-7CEB9AD47FB5}"/>
              </a:ext>
            </a:extLst>
          </p:cNvPr>
          <p:cNvSpPr txBox="1"/>
          <p:nvPr/>
        </p:nvSpPr>
        <p:spPr>
          <a:xfrm>
            <a:off x="10362280" y="6578242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11111"/>
                </a:solidFill>
              </a:rPr>
              <a:t>Socket.IO — field officers and HQ see the same data change simultaneously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1320FE-11EB-30C3-F8EE-08814CBC33DD}"/>
              </a:ext>
            </a:extLst>
          </p:cNvPr>
          <p:cNvSpPr/>
          <p:nvPr/>
        </p:nvSpPr>
        <p:spPr>
          <a:xfrm>
            <a:off x="10210800" y="7646711"/>
            <a:ext cx="5243190" cy="12586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1712F3-5B25-BAB2-9569-55640D92C73C}"/>
              </a:ext>
            </a:extLst>
          </p:cNvPr>
          <p:cNvSpPr txBox="1"/>
          <p:nvPr/>
        </p:nvSpPr>
        <p:spPr>
          <a:xfrm>
            <a:off x="10362280" y="7797604"/>
            <a:ext cx="4389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3D22"/>
                </a:solidFill>
              </a:rPr>
              <a:t>💰</a:t>
            </a:r>
            <a:r>
              <a:rPr lang="en-US" sz="1600" b="1" i="0" dirty="0">
                <a:solidFill>
                  <a:srgbClr val="0D3D22"/>
                </a:solidFill>
              </a:rPr>
              <a:t> </a:t>
            </a:r>
            <a:r>
              <a:rPr sz="1600" b="1" i="0" dirty="0">
                <a:solidFill>
                  <a:srgbClr val="0D3D22"/>
                </a:solidFill>
              </a:rPr>
              <a:t>₹500/month
Deployment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5790B5-A209-7798-F2CB-79DAE97FE4CB}"/>
              </a:ext>
            </a:extLst>
          </p:cNvPr>
          <p:cNvSpPr txBox="1"/>
          <p:nvPr/>
        </p:nvSpPr>
        <p:spPr>
          <a:xfrm>
            <a:off x="10362280" y="8439139"/>
            <a:ext cx="4389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11111"/>
                </a:solidFill>
              </a:rPr>
              <a:t>100% open-source, runs on cheap VPS or government NIC servers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757F39-8DC7-F7C7-5719-F6FB5B31C485}"/>
              </a:ext>
            </a:extLst>
          </p:cNvPr>
          <p:cNvSpPr/>
          <p:nvPr/>
        </p:nvSpPr>
        <p:spPr>
          <a:xfrm>
            <a:off x="10165081" y="1962918"/>
            <a:ext cx="45719" cy="1432232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4DBE38-44D9-EC4F-ABF3-756212A7852D}"/>
              </a:ext>
            </a:extLst>
          </p:cNvPr>
          <p:cNvSpPr/>
          <p:nvPr/>
        </p:nvSpPr>
        <p:spPr>
          <a:xfrm>
            <a:off x="10178884" y="3900465"/>
            <a:ext cx="45719" cy="1390284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D9BF67-DBA3-FE6F-5A2E-EABD72D1A380}"/>
              </a:ext>
            </a:extLst>
          </p:cNvPr>
          <p:cNvSpPr/>
          <p:nvPr/>
        </p:nvSpPr>
        <p:spPr>
          <a:xfrm>
            <a:off x="10156024" y="5769317"/>
            <a:ext cx="45719" cy="1420218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10768EA-9C1A-2E02-F8AB-4483B3FC2132}"/>
              </a:ext>
            </a:extLst>
          </p:cNvPr>
          <p:cNvSpPr/>
          <p:nvPr/>
        </p:nvSpPr>
        <p:spPr>
          <a:xfrm>
            <a:off x="10161104" y="7664916"/>
            <a:ext cx="45719" cy="1258636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1"/>
            <a:ext cx="18288001" cy="10287000"/>
          </a:xfrm>
          <a:custGeom>
            <a:avLst/>
            <a:gdLst/>
            <a:ahLst/>
            <a:cxnLst/>
            <a:rect l="l" t="t" r="r" b="b"/>
            <a:pathLst>
              <a:path w="20238818" h="13484113">
                <a:moveTo>
                  <a:pt x="0" y="0"/>
                </a:moveTo>
                <a:lnTo>
                  <a:pt x="20238818" y="0"/>
                </a:lnTo>
                <a:lnTo>
                  <a:pt x="20238818" y="13484113"/>
                </a:lnTo>
                <a:lnTo>
                  <a:pt x="0" y="13484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06256" y="1132308"/>
            <a:ext cx="17875488" cy="8754177"/>
            <a:chOff x="0" y="0"/>
            <a:chExt cx="2789895" cy="13662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89895" cy="1366297"/>
            </a:xfrm>
            <a:custGeom>
              <a:avLst/>
              <a:gdLst/>
              <a:ahLst/>
              <a:cxnLst/>
              <a:rect l="l" t="t" r="r" b="b"/>
              <a:pathLst>
                <a:path w="2789895" h="1366297">
                  <a:moveTo>
                    <a:pt x="14292" y="0"/>
                  </a:moveTo>
                  <a:lnTo>
                    <a:pt x="2775602" y="0"/>
                  </a:lnTo>
                  <a:cubicBezTo>
                    <a:pt x="2783496" y="0"/>
                    <a:pt x="2789895" y="6399"/>
                    <a:pt x="2789895" y="14292"/>
                  </a:cubicBezTo>
                  <a:lnTo>
                    <a:pt x="2789895" y="1352005"/>
                  </a:lnTo>
                  <a:cubicBezTo>
                    <a:pt x="2789895" y="1359898"/>
                    <a:pt x="2783496" y="1366297"/>
                    <a:pt x="2775602" y="1366297"/>
                  </a:cubicBezTo>
                  <a:lnTo>
                    <a:pt x="14292" y="1366297"/>
                  </a:lnTo>
                  <a:cubicBezTo>
                    <a:pt x="10502" y="1366297"/>
                    <a:pt x="6866" y="1364792"/>
                    <a:pt x="4186" y="1362111"/>
                  </a:cubicBezTo>
                  <a:cubicBezTo>
                    <a:pt x="1506" y="1359431"/>
                    <a:pt x="0" y="1355796"/>
                    <a:pt x="0" y="1352005"/>
                  </a:cubicBezTo>
                  <a:lnTo>
                    <a:pt x="0" y="14292"/>
                  </a:lnTo>
                  <a:cubicBezTo>
                    <a:pt x="0" y="10502"/>
                    <a:pt x="1506" y="6866"/>
                    <a:pt x="4186" y="4186"/>
                  </a:cubicBezTo>
                  <a:cubicBezTo>
                    <a:pt x="6866" y="1506"/>
                    <a:pt x="10502" y="0"/>
                    <a:pt x="14292" y="0"/>
                  </a:cubicBezTo>
                  <a:close/>
                </a:path>
              </a:pathLst>
            </a:custGeom>
            <a:solidFill>
              <a:srgbClr val="F8FBF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89895" cy="1404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96297" y="292778"/>
            <a:ext cx="4265444" cy="569409"/>
          </a:xfrm>
          <a:custGeom>
            <a:avLst/>
            <a:gdLst/>
            <a:ahLst/>
            <a:cxnLst/>
            <a:rect l="l" t="t" r="r" b="b"/>
            <a:pathLst>
              <a:path w="4265444" h="569409">
                <a:moveTo>
                  <a:pt x="0" y="0"/>
                </a:moveTo>
                <a:lnTo>
                  <a:pt x="4265443" y="0"/>
                </a:lnTo>
                <a:lnTo>
                  <a:pt x="4265443" y="569409"/>
                </a:lnTo>
                <a:lnTo>
                  <a:pt x="0" y="569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20763" b="-328336"/>
            </a:stretch>
          </a:blipFill>
        </p:spPr>
      </p:sp>
      <p:grpSp>
        <p:nvGrpSpPr>
          <p:cNvPr id="19" name="Group 9"/>
          <p:cNvGrpSpPr/>
          <p:nvPr/>
        </p:nvGrpSpPr>
        <p:grpSpPr>
          <a:xfrm>
            <a:off x="13318339" y="292778"/>
            <a:ext cx="4668409" cy="436965"/>
            <a:chOff x="0" y="0"/>
            <a:chExt cx="6224546" cy="582620"/>
          </a:xfrm>
        </p:grpSpPr>
        <p:sp>
          <p:nvSpPr>
            <p:cNvPr id="20" name="Freeform 10"/>
            <p:cNvSpPr/>
            <p:nvPr/>
          </p:nvSpPr>
          <p:spPr>
            <a:xfrm>
              <a:off x="1820252" y="18024"/>
              <a:ext cx="359721" cy="546572"/>
            </a:xfrm>
            <a:custGeom>
              <a:avLst/>
              <a:gdLst/>
              <a:ahLst/>
              <a:cxnLst/>
              <a:rect l="l" t="t" r="r" b="b"/>
              <a:pathLst>
                <a:path w="359721" h="546572">
                  <a:moveTo>
                    <a:pt x="0" y="0"/>
                  </a:moveTo>
                  <a:lnTo>
                    <a:pt x="359721" y="0"/>
                  </a:lnTo>
                  <a:lnTo>
                    <a:pt x="359721" y="546572"/>
                  </a:lnTo>
                  <a:lnTo>
                    <a:pt x="0" y="54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0422"/>
              </a:stretch>
            </a:blipFill>
          </p:spPr>
        </p:sp>
        <p:sp>
          <p:nvSpPr>
            <p:cNvPr id="21" name="Freeform 11"/>
            <p:cNvSpPr/>
            <p:nvPr/>
          </p:nvSpPr>
          <p:spPr>
            <a:xfrm>
              <a:off x="2596062" y="25274"/>
              <a:ext cx="538648" cy="539322"/>
            </a:xfrm>
            <a:custGeom>
              <a:avLst/>
              <a:gdLst/>
              <a:ahLst/>
              <a:cxnLst/>
              <a:rect l="l" t="t" r="r" b="b"/>
              <a:pathLst>
                <a:path w="538648" h="539322">
                  <a:moveTo>
                    <a:pt x="0" y="0"/>
                  </a:moveTo>
                  <a:lnTo>
                    <a:pt x="538647" y="0"/>
                  </a:lnTo>
                  <a:lnTo>
                    <a:pt x="538647" y="539322"/>
                  </a:lnTo>
                  <a:lnTo>
                    <a:pt x="0" y="53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22" name="Freeform 12"/>
            <p:cNvSpPr/>
            <p:nvPr/>
          </p:nvSpPr>
          <p:spPr>
            <a:xfrm>
              <a:off x="5010245" y="25274"/>
              <a:ext cx="1214301" cy="475095"/>
            </a:xfrm>
            <a:custGeom>
              <a:avLst/>
              <a:gdLst/>
              <a:ahLst/>
              <a:cxnLst/>
              <a:rect l="l" t="t" r="r" b="b"/>
              <a:pathLst>
                <a:path w="1214301" h="475095">
                  <a:moveTo>
                    <a:pt x="0" y="0"/>
                  </a:moveTo>
                  <a:lnTo>
                    <a:pt x="1214301" y="0"/>
                  </a:lnTo>
                  <a:lnTo>
                    <a:pt x="1214301" y="475095"/>
                  </a:lnTo>
                  <a:lnTo>
                    <a:pt x="0" y="475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3" name="Freeform 13"/>
            <p:cNvSpPr/>
            <p:nvPr/>
          </p:nvSpPr>
          <p:spPr>
            <a:xfrm>
              <a:off x="0" y="0"/>
              <a:ext cx="1520834" cy="582620"/>
            </a:xfrm>
            <a:custGeom>
              <a:avLst/>
              <a:gdLst/>
              <a:ahLst/>
              <a:cxnLst/>
              <a:rect l="l" t="t" r="r" b="b"/>
              <a:pathLst>
                <a:path w="1520834" h="582620">
                  <a:moveTo>
                    <a:pt x="0" y="0"/>
                  </a:moveTo>
                  <a:lnTo>
                    <a:pt x="1520834" y="0"/>
                  </a:lnTo>
                  <a:lnTo>
                    <a:pt x="1520834" y="582620"/>
                  </a:lnTo>
                  <a:lnTo>
                    <a:pt x="0" y="582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80788" b="-80244"/>
              </a:stretch>
            </a:blipFill>
          </p:spPr>
        </p:sp>
        <p:sp>
          <p:nvSpPr>
            <p:cNvPr id="24" name="Freeform 14"/>
            <p:cNvSpPr/>
            <p:nvPr/>
          </p:nvSpPr>
          <p:spPr>
            <a:xfrm>
              <a:off x="3394263" y="14122"/>
              <a:ext cx="1395776" cy="561627"/>
            </a:xfrm>
            <a:custGeom>
              <a:avLst/>
              <a:gdLst/>
              <a:ahLst/>
              <a:cxnLst/>
              <a:rect l="l" t="t" r="r" b="b"/>
              <a:pathLst>
                <a:path w="1395776" h="561627">
                  <a:moveTo>
                    <a:pt x="0" y="0"/>
                  </a:moveTo>
                  <a:lnTo>
                    <a:pt x="1395776" y="0"/>
                  </a:lnTo>
                  <a:lnTo>
                    <a:pt x="1395776" y="561626"/>
                  </a:lnTo>
                  <a:lnTo>
                    <a:pt x="0" y="561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73994" b="-74529"/>
              </a:stretch>
            </a:blipFill>
          </p:spPr>
        </p:sp>
        <p:sp>
          <p:nvSpPr>
            <p:cNvPr id="25" name="AutoShape 15"/>
            <p:cNvSpPr/>
            <p:nvPr/>
          </p:nvSpPr>
          <p:spPr>
            <a:xfrm flipV="1">
              <a:off x="1577762" y="40304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AutoShape 16"/>
            <p:cNvSpPr/>
            <p:nvPr/>
          </p:nvSpPr>
          <p:spPr>
            <a:xfrm flipV="1">
              <a:off x="2437300" y="46327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17"/>
            <p:cNvSpPr/>
            <p:nvPr/>
          </p:nvSpPr>
          <p:spPr>
            <a:xfrm flipV="1">
              <a:off x="4804191" y="24874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18"/>
            <p:cNvSpPr/>
            <p:nvPr/>
          </p:nvSpPr>
          <p:spPr>
            <a:xfrm flipV="1">
              <a:off x="3351775" y="46327"/>
              <a:ext cx="0" cy="489965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9" name="Freeform 7"/>
          <p:cNvSpPr/>
          <p:nvPr/>
        </p:nvSpPr>
        <p:spPr>
          <a:xfrm>
            <a:off x="7391400" y="288797"/>
            <a:ext cx="3994743" cy="519317"/>
          </a:xfrm>
          <a:custGeom>
            <a:avLst/>
            <a:gdLst/>
            <a:ahLst/>
            <a:cxnLst/>
            <a:rect l="l" t="t" r="r" b="b"/>
            <a:pathLst>
              <a:path w="4437093" h="576822">
                <a:moveTo>
                  <a:pt x="0" y="0"/>
                </a:moveTo>
                <a:lnTo>
                  <a:pt x="4437092" y="0"/>
                </a:lnTo>
                <a:lnTo>
                  <a:pt x="4437092" y="576822"/>
                </a:lnTo>
                <a:lnTo>
                  <a:pt x="0" y="5768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pic>
        <p:nvPicPr>
          <p:cNvPr id="7" name="Picture 6" descr="future_roadmap_1774024087650.png">
            <a:extLst>
              <a:ext uri="{FF2B5EF4-FFF2-40B4-BE49-F238E27FC236}">
                <a16:creationId xmlns:a16="http://schemas.microsoft.com/office/drawing/2014/main" id="{37231462-1719-1A11-4445-5072C664BB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089" y="1869322"/>
            <a:ext cx="8734286" cy="746593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7A85FCB-97D8-9C01-3180-43B7C623C8BB}"/>
              </a:ext>
            </a:extLst>
          </p:cNvPr>
          <p:cNvSpPr/>
          <p:nvPr/>
        </p:nvSpPr>
        <p:spPr>
          <a:xfrm>
            <a:off x="9922624" y="1962251"/>
            <a:ext cx="4579036" cy="14453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12934C-550A-9574-8C13-EE960B5206C2}"/>
              </a:ext>
            </a:extLst>
          </p:cNvPr>
          <p:cNvSpPr/>
          <p:nvPr/>
        </p:nvSpPr>
        <p:spPr>
          <a:xfrm>
            <a:off x="9922623" y="3901063"/>
            <a:ext cx="4579037" cy="14453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75F374-A9B1-57E3-A2DD-B5C20A4F793C}"/>
              </a:ext>
            </a:extLst>
          </p:cNvPr>
          <p:cNvSpPr/>
          <p:nvPr/>
        </p:nvSpPr>
        <p:spPr>
          <a:xfrm>
            <a:off x="9921359" y="5895471"/>
            <a:ext cx="4580301" cy="14453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222AEC-A36D-6DA4-AA10-A23043E7D35A}"/>
              </a:ext>
            </a:extLst>
          </p:cNvPr>
          <p:cNvSpPr/>
          <p:nvPr/>
        </p:nvSpPr>
        <p:spPr>
          <a:xfrm>
            <a:off x="9883738" y="7926161"/>
            <a:ext cx="4617921" cy="14453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6F2118-0B99-9D5C-4CE6-9140B61A9D36}"/>
              </a:ext>
            </a:extLst>
          </p:cNvPr>
          <p:cNvSpPr txBox="1"/>
          <p:nvPr/>
        </p:nvSpPr>
        <p:spPr>
          <a:xfrm>
            <a:off x="9935059" y="2068756"/>
            <a:ext cx="33832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0D3D22"/>
                </a:solidFill>
              </a:rPr>
              <a:t>📱  Mobile App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681554-99BF-FBE9-94F6-DD468F34B93A}"/>
              </a:ext>
            </a:extLst>
          </p:cNvPr>
          <p:cNvSpPr txBox="1"/>
          <p:nvPr/>
        </p:nvSpPr>
        <p:spPr>
          <a:xfrm>
            <a:off x="10036145" y="2572786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11111"/>
                </a:solidFill>
              </a:rPr>
              <a:t>React Native offline-first for field officers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A18C3-1514-5B8A-EF34-C0AF79212760}"/>
              </a:ext>
            </a:extLst>
          </p:cNvPr>
          <p:cNvSpPr txBox="1"/>
          <p:nvPr/>
        </p:nvSpPr>
        <p:spPr>
          <a:xfrm>
            <a:off x="9943570" y="4030283"/>
            <a:ext cx="33832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0D3D22"/>
                </a:solidFill>
              </a:rPr>
              <a:t>🔗  Aadhaar API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2057F928-03FD-5037-5A41-A8D8164A8874}"/>
              </a:ext>
            </a:extLst>
          </p:cNvPr>
          <p:cNvSpPr txBox="1"/>
          <p:nvPr/>
        </p:nvSpPr>
        <p:spPr>
          <a:xfrm>
            <a:off x="10023422" y="4534313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0" i="0" dirty="0">
                <a:solidFill>
                  <a:srgbClr val="111111"/>
                </a:solidFill>
              </a:rPr>
              <a:t>Real integration for instant beneficiary verification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2796BA-E1E1-E51B-2472-CAD08F45FB43}"/>
              </a:ext>
            </a:extLst>
          </p:cNvPr>
          <p:cNvSpPr txBox="1"/>
          <p:nvPr/>
        </p:nvSpPr>
        <p:spPr>
          <a:xfrm>
            <a:off x="9980200" y="6081191"/>
            <a:ext cx="33832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0D3D22"/>
                </a:solidFill>
              </a:rPr>
              <a:t>🔒 Blockchain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A22902-536F-D191-E035-37D4DE2C0E10}"/>
              </a:ext>
            </a:extLst>
          </p:cNvPr>
          <p:cNvSpPr txBox="1"/>
          <p:nvPr/>
        </p:nvSpPr>
        <p:spPr>
          <a:xfrm>
            <a:off x="10015889" y="6555760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11111"/>
                </a:solidFill>
              </a:rPr>
              <a:t>Immutable audit trail for RTI compliance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247199-800F-435E-7172-816D544B0741}"/>
              </a:ext>
            </a:extLst>
          </p:cNvPr>
          <p:cNvSpPr txBox="1"/>
          <p:nvPr/>
        </p:nvSpPr>
        <p:spPr>
          <a:xfrm>
            <a:off x="9943570" y="810417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3D22"/>
                </a:solidFill>
              </a:rPr>
              <a:t>🌐  100 Districts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811356-F9A1-D266-A641-19F0EF106F03}"/>
              </a:ext>
            </a:extLst>
          </p:cNvPr>
          <p:cNvSpPr txBox="1"/>
          <p:nvPr/>
        </p:nvSpPr>
        <p:spPr>
          <a:xfrm>
            <a:off x="10016853" y="8571349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11111"/>
                </a:solidFill>
              </a:rPr>
              <a:t>National rollout to all PMDDKY districts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A770D7-DE87-F077-A77C-5E9B5D862D98}"/>
              </a:ext>
            </a:extLst>
          </p:cNvPr>
          <p:cNvSpPr/>
          <p:nvPr/>
        </p:nvSpPr>
        <p:spPr>
          <a:xfrm>
            <a:off x="9875639" y="1990189"/>
            <a:ext cx="45719" cy="1466778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E9AD9E-2661-3B5F-C639-A4B262B86F83}"/>
              </a:ext>
            </a:extLst>
          </p:cNvPr>
          <p:cNvSpPr/>
          <p:nvPr/>
        </p:nvSpPr>
        <p:spPr>
          <a:xfrm>
            <a:off x="9875638" y="3898858"/>
            <a:ext cx="45719" cy="1449789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0E5FD9-1B6E-03F4-080C-AC1D5A2E5E87}"/>
              </a:ext>
            </a:extLst>
          </p:cNvPr>
          <p:cNvSpPr/>
          <p:nvPr/>
        </p:nvSpPr>
        <p:spPr>
          <a:xfrm>
            <a:off x="9869088" y="5891060"/>
            <a:ext cx="45719" cy="1449789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B1DBEC-EF14-FE2E-8F50-34F0B710533B}"/>
              </a:ext>
            </a:extLst>
          </p:cNvPr>
          <p:cNvSpPr/>
          <p:nvPr/>
        </p:nvSpPr>
        <p:spPr>
          <a:xfrm>
            <a:off x="9852778" y="7926161"/>
            <a:ext cx="45719" cy="145418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1242" y="-427739"/>
            <a:ext cx="19390485" cy="11142478"/>
          </a:xfrm>
          <a:custGeom>
            <a:avLst/>
            <a:gdLst/>
            <a:ahLst/>
            <a:cxnLst/>
            <a:rect l="l" t="t" r="r" b="b"/>
            <a:pathLst>
              <a:path w="19390485" h="11142478">
                <a:moveTo>
                  <a:pt x="0" y="0"/>
                </a:moveTo>
                <a:lnTo>
                  <a:pt x="19390484" y="0"/>
                </a:lnTo>
                <a:lnTo>
                  <a:pt x="19390484" y="11142478"/>
                </a:lnTo>
                <a:lnTo>
                  <a:pt x="0" y="11142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74" t="-18831" b="-2184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9297444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4326249" y="4721149"/>
            <a:ext cx="9065429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96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382</Words>
  <Application>Microsoft Office PowerPoint</Application>
  <PresentationFormat>Custom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Poppins Bold</vt:lpstr>
      <vt:lpstr>Poppins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Partner</dc:title>
  <dc:creator>Vikas</dc:creator>
  <cp:lastModifiedBy>OJASWEE UPADHYAY</cp:lastModifiedBy>
  <cp:revision>19</cp:revision>
  <dcterms:created xsi:type="dcterms:W3CDTF">2006-08-16T00:00:00Z</dcterms:created>
  <dcterms:modified xsi:type="dcterms:W3CDTF">2026-03-21T18:01:51Z</dcterms:modified>
  <dc:identifier>DAHEAHRg5Z4</dc:identifier>
</cp:coreProperties>
</file>